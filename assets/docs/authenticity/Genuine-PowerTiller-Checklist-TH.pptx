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F098-8DE4-4140-98AF-53A1A6908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49983-C1D5-5143-6260-A8A965E3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B67C8-278D-6004-D2BD-4E1AE6C3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169E3-F437-2D2A-EE89-DF80A938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E6F20-48CB-CA2F-DF77-FF634E0C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714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F3A5-DF67-B74D-E22E-D836C279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B3AA0-9077-3627-79AD-C6DD45774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CE6F-9D34-64C3-EA88-9CBFD6DB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3C11E-02EB-44E6-5104-94C52FE8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0E1E-08A0-F6BA-4461-8635D628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658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844A-32A0-9B51-4787-8B25F038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E67FF-E2A2-78EA-0347-60EC7FA5D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A416-2E16-DBF3-D65C-7340AC03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1252F-3535-9E73-2FCD-18AE5739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5A08-2C69-47EE-7F73-39CF4BA2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062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CFCD-58F0-C028-CFAE-C9A7D90F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05827-22A5-A766-98E6-61B8BF721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0023C-FC29-5D2C-D305-9E4621A62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ECAD0-F9E1-6F76-F0A4-295AB39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9D107-7676-0E77-580D-EAC30FB5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99E5-6BEC-F953-A539-6D85D635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20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22FB-11A3-8389-51A4-80F1D2F3A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ACD75-0BAC-7789-A76D-7DE1E4788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11043-1ECD-423F-23D5-50A6152B3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1E3DB-0673-EFC2-9B24-8EAADFA83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1C6E8-F389-30F3-604F-7E1403BBD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E1B97-8027-BBB6-43FA-D35AA83A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68D1C-F0B8-09E1-594E-000B2CA2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E789E-8AFD-4047-8CC1-CE90A53F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456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F243-9444-E1C2-7F73-D2AB328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60CFE-BF98-FF46-9F57-6A16D4D7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F9234-79CC-89A7-D0AE-3CBD9556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09E40-8578-2890-796E-44248C38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610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E59DB-A3C2-373D-DACC-4E94F2C6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C5A77-AD7A-588D-B3EF-2DBC1DCA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A9B8F-5F6B-E030-BEF3-45116FD5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064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D43F-7B37-648A-7ABE-418025E0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CEF1D-4C6D-641B-5E90-3E63DA98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80A8E-0AE5-A278-05CF-DE3BF9D13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C1C9A-077A-91E4-8C31-A732EC9B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4D7C7-EA6D-7BC1-1F0B-0DA80374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9D2AA-D231-2966-EDA9-B8D74DEE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513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E82C-1711-A26B-6094-07DAE1C2D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FFA23-8562-973E-22BF-B137E5554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675BE-7385-DC26-AEC4-D68EA774A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C77EB-0841-9D18-4B49-E1775FC7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B6536-4076-2650-631E-D0651A5A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76B22-1DE2-3E31-14C5-5C54CAC2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411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0EC8-5CB2-3BA5-8D19-B5035BAF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D2089-47F2-996F-F020-B5AFBA5B1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6429-A443-8264-FBDE-91C6B03E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3BD86-42E3-E05A-7EE4-4D9DFDFC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02795-A55E-458D-9C27-7B8E8D8C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109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996DA-8A0E-CA31-32CC-0A95D36E0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FC823-5220-8D64-FAD2-DAB6D5179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CC05F-FF70-9C79-FBAA-512299F4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8CEB-147F-F523-F88B-9C77EB83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C4D12-E10A-0237-2E6D-73616BEC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595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012BE-D94C-AFFB-49CC-EC3D12EB8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B575C-F7EC-263B-821F-EB7D4294B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DEE8A-DCF1-9E3E-095F-647A28621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57BE1-AFC4-46F5-A5CD-CDE342BD833B}" type="datetimeFigureOut">
              <a:rPr lang="th-TH" smtClean="0"/>
              <a:t>22/03/68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3326D-17C1-1E99-C9A6-9E54C6C0A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CBB23-A202-8DC8-63E5-D6630B208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5041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chine with wheels on it&#10;&#10;Description automatically generated">
            <a:extLst>
              <a:ext uri="{FF2B5EF4-FFF2-40B4-BE49-F238E27FC236}">
                <a16:creationId xmlns:a16="http://schemas.microsoft.com/office/drawing/2014/main" id="{B1937092-D5A7-60F4-1678-53771F76B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1529"/>
            <a:ext cx="8054763" cy="558999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CBA1F50-2C28-A826-B8C2-2C53A6594F9C}"/>
              </a:ext>
            </a:extLst>
          </p:cNvPr>
          <p:cNvGrpSpPr/>
          <p:nvPr/>
        </p:nvGrpSpPr>
        <p:grpSpPr>
          <a:xfrm>
            <a:off x="7670126" y="1419849"/>
            <a:ext cx="4227960" cy="3451055"/>
            <a:chOff x="6516962" y="3358221"/>
            <a:chExt cx="4227960" cy="3451055"/>
          </a:xfrm>
        </p:grpSpPr>
        <p:sp>
          <p:nvSpPr>
            <p:cNvPr id="8" name="Explosion: 14 Points 7">
              <a:extLst>
                <a:ext uri="{FF2B5EF4-FFF2-40B4-BE49-F238E27FC236}">
                  <a16:creationId xmlns:a16="http://schemas.microsoft.com/office/drawing/2014/main" id="{8F49DDBC-25B5-A24C-BA51-9BFB4FCE0B75}"/>
                </a:ext>
              </a:extLst>
            </p:cNvPr>
            <p:cNvSpPr/>
            <p:nvPr/>
          </p:nvSpPr>
          <p:spPr>
            <a:xfrm rot="1049749">
              <a:off x="6516962" y="3358221"/>
              <a:ext cx="4227960" cy="3451055"/>
            </a:xfrm>
            <a:prstGeom prst="irregularSeal2">
              <a:avLst/>
            </a:prstGeom>
            <a:solidFill>
              <a:srgbClr val="FF6600">
                <a:alpha val="80000"/>
              </a:srgbClr>
            </a:solidFill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4E7CA2-FB7B-B623-4751-8903764BD331}"/>
                </a:ext>
              </a:extLst>
            </p:cNvPr>
            <p:cNvSpPr txBox="1"/>
            <p:nvPr/>
          </p:nvSpPr>
          <p:spPr>
            <a:xfrm>
              <a:off x="6539503" y="4360473"/>
              <a:ext cx="396068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8800" b="1" dirty="0">
                  <a:effectLst>
                    <a:glow rad="63500">
                      <a:schemeClr val="bg1">
                        <a:lumMod val="95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DB Heavent" panose="02000506060000020004" pitchFamily="2" charset="-34"/>
                  <a:cs typeface="DB Heavent" panose="02000506060000020004" pitchFamily="2" charset="-34"/>
                </a:rPr>
                <a:t>ของแท้ </a:t>
              </a:r>
              <a:r>
                <a:rPr lang="en-US" sz="8800" b="1" dirty="0">
                  <a:effectLst>
                    <a:glow rad="63500">
                      <a:schemeClr val="bg1">
                        <a:lumMod val="95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DB Heavent" panose="02000506060000020004" pitchFamily="2" charset="-34"/>
                  <a:cs typeface="DB Heavent" panose="02000506060000020004" pitchFamily="2" charset="-34"/>
                </a:rPr>
                <a:t>!!!</a:t>
              </a:r>
              <a:endParaRPr lang="th-TH" sz="8800" b="1" dirty="0">
                <a:effectLst>
                  <a:glow rad="63500">
                    <a:schemeClr val="bg1">
                      <a:lumMod val="9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B Heavent" panose="02000506060000020004" pitchFamily="2" charset="-34"/>
                <a:cs typeface="DB Heavent" panose="02000506060000020004" pitchFamily="2" charset="-34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6DE38B-916D-D390-C8E5-F2D5CAAA1D89}"/>
              </a:ext>
            </a:extLst>
          </p:cNvPr>
          <p:cNvSpPr txBox="1"/>
          <p:nvPr/>
        </p:nvSpPr>
        <p:spPr>
          <a:xfrm>
            <a:off x="381000" y="360939"/>
            <a:ext cx="1086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4800" b="1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th-TH" sz="5400" dirty="0"/>
              <a:t>รวมจุดสังเกตรถไถเดินตาม ตราช้าง ของแท้ </a:t>
            </a:r>
            <a:r>
              <a:rPr lang="en-US" sz="5400" dirty="0"/>
              <a:t>!!!</a:t>
            </a:r>
            <a:endParaRPr lang="th-TH" sz="5400" dirty="0"/>
          </a:p>
        </p:txBody>
      </p:sp>
    </p:spTree>
    <p:extLst>
      <p:ext uri="{BB962C8B-B14F-4D97-AF65-F5344CB8AC3E}">
        <p14:creationId xmlns:p14="http://schemas.microsoft.com/office/powerpoint/2010/main" val="2914978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CC8417-9EE7-BBFE-8884-C2CF9C7A4255}"/>
              </a:ext>
            </a:extLst>
          </p:cNvPr>
          <p:cNvSpPr/>
          <p:nvPr/>
        </p:nvSpPr>
        <p:spPr>
          <a:xfrm>
            <a:off x="688030" y="1794168"/>
            <a:ext cx="10536766" cy="4064372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E2822-1798-43BB-61B9-BB6BB06F7CCF}"/>
              </a:ext>
            </a:extLst>
          </p:cNvPr>
          <p:cNvSpPr txBox="1"/>
          <p:nvPr/>
        </p:nvSpPr>
        <p:spPr>
          <a:xfrm>
            <a:off x="381000" y="360939"/>
            <a:ext cx="1086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4800" b="1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th-TH" sz="5400" dirty="0"/>
              <a:t>รวมจุดสังเกตรถไถเดินตาม ตราช้าง ของแท้ </a:t>
            </a:r>
            <a:r>
              <a:rPr lang="en-US" sz="5400" dirty="0"/>
              <a:t>!!!</a:t>
            </a:r>
            <a:endParaRPr lang="th-TH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16EF5-B564-E6B5-3FD2-636DF995E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8" b="91236" l="9790" r="89977">
                        <a14:foregroundMark x1="44289" y1="91236" x2="43823" y2="8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269" y="2483731"/>
            <a:ext cx="3054581" cy="3168509"/>
          </a:xfrm>
          <a:prstGeom prst="rect">
            <a:avLst/>
          </a:prstGeom>
        </p:spPr>
      </p:pic>
      <p:sp>
        <p:nvSpPr>
          <p:cNvPr id="5" name="TextBox 85">
            <a:extLst>
              <a:ext uri="{FF2B5EF4-FFF2-40B4-BE49-F238E27FC236}">
                <a16:creationId xmlns:a16="http://schemas.microsoft.com/office/drawing/2014/main" id="{E577D11D-EE6C-E76A-4A68-A275F9EE4A7D}"/>
              </a:ext>
            </a:extLst>
          </p:cNvPr>
          <p:cNvSpPr txBox="1"/>
          <p:nvPr/>
        </p:nvSpPr>
        <p:spPr>
          <a:xfrm>
            <a:off x="4216042" y="3236245"/>
            <a:ext cx="61613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b="1"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dirty="0"/>
              <a:t>เครื่องหมายการค้ารูป </a:t>
            </a:r>
            <a:r>
              <a:rPr lang="en-US" dirty="0"/>
              <a:t>“</a:t>
            </a:r>
            <a:r>
              <a:rPr lang="th-TH" dirty="0"/>
              <a:t>ช้างในฟันเฟือง</a:t>
            </a:r>
            <a:r>
              <a:rPr lang="en-US" dirty="0"/>
              <a:t>”</a:t>
            </a:r>
            <a:r>
              <a:rPr lang="th-TH" dirty="0"/>
              <a:t> </a:t>
            </a:r>
            <a:br>
              <a:rPr lang="th-TH" dirty="0"/>
            </a:br>
            <a:r>
              <a:rPr lang="th-TH" dirty="0"/>
              <a:t>ช้างหันหน้าไปทางซ้าย และยกเท้าหน้าข้างซ้าย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dirty="0"/>
              <a:t>ฟันเฟืองสีทองสว่าง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dirty="0"/>
              <a:t>รูปช้างสีขาวบนพื้นวงกลมสีแดงสด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DB309-70A5-DC5F-E5CF-88CBC7D8EEF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1798724" y="1794168"/>
            <a:ext cx="4157689" cy="1078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DA14BF-800F-747F-C3C1-3106BCF4BE43}"/>
              </a:ext>
            </a:extLst>
          </p:cNvPr>
          <p:cNvSpPr txBox="1"/>
          <p:nvPr/>
        </p:nvSpPr>
        <p:spPr>
          <a:xfrm>
            <a:off x="366711" y="1644208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01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14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085707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332" y="1818127"/>
            <a:ext cx="6430744" cy="4462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CD37CE-A5EB-8829-CD25-11F1D3B9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279" y="1377286"/>
            <a:ext cx="3896549" cy="2922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E2822-1798-43BB-61B9-BB6BB06F7CCF}"/>
              </a:ext>
            </a:extLst>
          </p:cNvPr>
          <p:cNvSpPr txBox="1"/>
          <p:nvPr/>
        </p:nvSpPr>
        <p:spPr>
          <a:xfrm>
            <a:off x="381000" y="360939"/>
            <a:ext cx="1086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4800" b="1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th-TH" sz="5400" dirty="0"/>
              <a:t>รวมจุดสังเกตรถไถเดินตาม ตราช้าง ของแท้ </a:t>
            </a:r>
            <a:r>
              <a:rPr lang="en-US" sz="5400" dirty="0"/>
              <a:t>!!!</a:t>
            </a:r>
            <a:endParaRPr lang="th-TH" sz="5400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0A82FE1-7E30-ACEA-EB53-D40ED9731F96}"/>
              </a:ext>
            </a:extLst>
          </p:cNvPr>
          <p:cNvCxnSpPr>
            <a:cxnSpLocks/>
          </p:cNvCxnSpPr>
          <p:nvPr/>
        </p:nvCxnSpPr>
        <p:spPr>
          <a:xfrm flipV="1">
            <a:off x="2252487" y="2590800"/>
            <a:ext cx="5977113" cy="415513"/>
          </a:xfrm>
          <a:prstGeom prst="bentConnector3">
            <a:avLst>
              <a:gd name="adj1" fmla="val 281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231C99-066C-ACE7-5474-98693BFF09F3}"/>
              </a:ext>
            </a:extLst>
          </p:cNvPr>
          <p:cNvSpPr txBox="1"/>
          <p:nvPr/>
        </p:nvSpPr>
        <p:spPr>
          <a:xfrm>
            <a:off x="6436958" y="4477512"/>
            <a:ext cx="53651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latin typeface="DB Heavent Black" panose="02000506060000020004" pitchFamily="2" charset="-34"/>
                <a:cs typeface="DB Heavent Black" panose="02000506060000020004" pitchFamily="2" charset="-34"/>
              </a:rPr>
              <a:t>สติ๊กเกอร์เครื่องหมายการค้า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000" b="1" dirty="0">
                <a:latin typeface="DB Heavent" panose="02000506060000020004" pitchFamily="2" charset="-34"/>
                <a:cs typeface="DB Heavent" panose="02000506060000020004" pitchFamily="2" charset="-34"/>
              </a:rPr>
              <a:t>รูปช้างหันหน้าไปทางซ้าย ยกเท้าหน้าซ้าย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th-TH" sz="2000" b="1" dirty="0">
                <a:latin typeface="DB Heavent" panose="02000506060000020004" pitchFamily="2" charset="-34"/>
                <a:cs typeface="DB Heavent" panose="02000506060000020004" pitchFamily="2" charset="-34"/>
              </a:rPr>
              <a:t> ฟันเฟืองสีทองสว่าง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th-TH" sz="2000" b="1" dirty="0">
                <a:latin typeface="DB Heavent" panose="02000506060000020004" pitchFamily="2" charset="-34"/>
                <a:cs typeface="DB Heavent" panose="02000506060000020004" pitchFamily="2" charset="-34"/>
              </a:rPr>
              <a:t> เขียนว่า </a:t>
            </a:r>
            <a:r>
              <a:rPr lang="en-US" sz="2000" b="1" dirty="0">
                <a:latin typeface="DB Heavent" panose="02000506060000020004" pitchFamily="2" charset="-34"/>
                <a:cs typeface="DB Heavent" panose="02000506060000020004" pitchFamily="2" charset="-34"/>
              </a:rPr>
              <a:t>“TRA  CHANG” </a:t>
            </a:r>
            <a:r>
              <a:rPr lang="th-TH" sz="2000" b="1" dirty="0">
                <a:latin typeface="DB Heavent" panose="02000506060000020004" pitchFamily="2" charset="-34"/>
                <a:cs typeface="DB Heavent" panose="02000506060000020004" pitchFamily="2" charset="-34"/>
              </a:rPr>
              <a:t>มีขอบสีขาว และตัวหนังสือสีแดงสด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DB309-70A5-DC5F-E5CF-88CBC7D8EEF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9486757" y="4477512"/>
            <a:ext cx="1933257" cy="501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D747E0-729F-A4DB-1E1D-5938B43A18B7}"/>
              </a:ext>
            </a:extLst>
          </p:cNvPr>
          <p:cNvSpPr txBox="1"/>
          <p:nvPr/>
        </p:nvSpPr>
        <p:spPr>
          <a:xfrm>
            <a:off x="5362714" y="1301564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02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1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085707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332" y="1818127"/>
            <a:ext cx="6430744" cy="4462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E2822-1798-43BB-61B9-BB6BB06F7CCF}"/>
              </a:ext>
            </a:extLst>
          </p:cNvPr>
          <p:cNvSpPr txBox="1"/>
          <p:nvPr/>
        </p:nvSpPr>
        <p:spPr>
          <a:xfrm>
            <a:off x="381000" y="360939"/>
            <a:ext cx="1086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4800" b="1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th-TH" sz="5400" dirty="0"/>
              <a:t>รวมจุดสังเกตรถไถเดินตาม ตราช้าง ของแท้ </a:t>
            </a:r>
            <a:r>
              <a:rPr lang="en-US" sz="5400" dirty="0"/>
              <a:t>!!!</a:t>
            </a:r>
            <a:endParaRPr lang="th-TH" sz="5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A5AD0C-5533-5E53-9E7C-420103B184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94" t="3693" r="22395" b="56037"/>
          <a:stretch/>
        </p:blipFill>
        <p:spPr>
          <a:xfrm>
            <a:off x="7849680" y="1648697"/>
            <a:ext cx="2539746" cy="2471889"/>
          </a:xfrm>
          <a:prstGeom prst="rect">
            <a:avLst/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375788" y="4311847"/>
            <a:ext cx="536518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b="1" dirty="0">
                <a:latin typeface="DB Heavent Black" panose="02000506060000020004" pitchFamily="2" charset="-34"/>
                <a:cs typeface="DB Heavent Black" panose="02000506060000020004" pitchFamily="2" charset="-34"/>
              </a:rPr>
              <a:t>ชุด</a:t>
            </a:r>
            <a:r>
              <a:rPr lang="th-TH" sz="3600" b="1" dirty="0">
                <a:solidFill>
                  <a:srgbClr val="FF0000"/>
                </a:solidFill>
                <a:latin typeface="DB Heavent Black" panose="02000506060000020004" pitchFamily="2" charset="-34"/>
                <a:cs typeface="DB Heavent Black" panose="02000506060000020004" pitchFamily="2" charset="-34"/>
              </a:rPr>
              <a:t>เสื้อเกียร์</a:t>
            </a:r>
            <a:r>
              <a:rPr lang="th-TH" sz="3600" b="1" dirty="0">
                <a:latin typeface="DB Heavent Black" panose="02000506060000020004" pitchFamily="2" charset="-34"/>
                <a:cs typeface="DB Heavent Black" panose="02000506060000020004" pitchFamily="2" charset="-34"/>
              </a:rPr>
              <a:t> (</a:t>
            </a:r>
            <a:r>
              <a:rPr lang="en-US" sz="3600" b="1" dirty="0">
                <a:latin typeface="DB Heavent Black" panose="02000506060000020004" pitchFamily="2" charset="-34"/>
                <a:cs typeface="DB Heavent Black" panose="02000506060000020004" pitchFamily="2" charset="-34"/>
              </a:rPr>
              <a:t>Transmission Case</a:t>
            </a:r>
            <a:r>
              <a:rPr lang="th-TH" sz="3600" b="1" dirty="0">
                <a:latin typeface="DB Heavent Black" panose="02000506060000020004" pitchFamily="2" charset="-34"/>
                <a:cs typeface="DB Heavent Black" panose="02000506060000020004" pitchFamily="2" charset="-34"/>
              </a:rPr>
              <a:t>)</a:t>
            </a:r>
            <a:endParaRPr lang="en-US" sz="3600" b="1" dirty="0">
              <a:latin typeface="DB Heavent Black" panose="02000506060000020004" pitchFamily="2" charset="-34"/>
              <a:cs typeface="DB Heavent Black" panose="02000506060000020004" pitchFamily="2" charset="-34"/>
            </a:endParaRP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ต้องปั๊มนูนว่า </a:t>
            </a:r>
            <a:r>
              <a:rPr lang="th-TH" sz="4000" b="1" dirty="0">
                <a:latin typeface="DB Heavent Black" panose="02000506060000020004" pitchFamily="2" charset="-34"/>
                <a:cs typeface="DB Heavent Black" panose="02000506060000020004" pitchFamily="2" charset="-34"/>
              </a:rPr>
              <a:t>“ตราช้าง” </a:t>
            </a:r>
            <a:endParaRPr lang="th-TH" b="1" dirty="0">
              <a:latin typeface="DB Heavent Black" panose="02000506060000020004" pitchFamily="2" charset="-34"/>
              <a:cs typeface="DB Heavent Black" panose="02000506060000020004" pitchFamily="2" charset="-34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 flipV="1">
            <a:off x="3733800" y="2884642"/>
            <a:ext cx="3970610" cy="1052382"/>
          </a:xfrm>
          <a:prstGeom prst="bentConnector3">
            <a:avLst>
              <a:gd name="adj1" fmla="val -171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460B92-8DB5-0EE0-71F6-DEEC8DA83F3B}"/>
              </a:ext>
            </a:extLst>
          </p:cNvPr>
          <p:cNvSpPr txBox="1"/>
          <p:nvPr/>
        </p:nvSpPr>
        <p:spPr>
          <a:xfrm>
            <a:off x="5362714" y="1301564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03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9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411171"/>
          </a:xfrm>
          <a:prstGeom prst="roundRect">
            <a:avLst>
              <a:gd name="adj" fmla="val 6003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314" y="1731042"/>
            <a:ext cx="6430744" cy="4462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E2822-1798-43BB-61B9-BB6BB06F7CCF}"/>
              </a:ext>
            </a:extLst>
          </p:cNvPr>
          <p:cNvSpPr txBox="1"/>
          <p:nvPr/>
        </p:nvSpPr>
        <p:spPr>
          <a:xfrm>
            <a:off x="381000" y="360939"/>
            <a:ext cx="1086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4800" b="1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th-TH" sz="5400" dirty="0"/>
              <a:t>รวมจุดสังเกตรถไถเดินตาม ตราช้าง ของแท้ </a:t>
            </a:r>
            <a:r>
              <a:rPr lang="en-US" sz="5400" dirty="0"/>
              <a:t>!!!</a:t>
            </a:r>
            <a:endParaRPr lang="th-TH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303373" y="4852804"/>
            <a:ext cx="56523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b="1" dirty="0">
                <a:latin typeface="DB Heavent Black" panose="02000506060000020004" pitchFamily="2" charset="-34"/>
                <a:cs typeface="DB Heavent Black" panose="02000506060000020004" pitchFamily="2" charset="-34"/>
              </a:rPr>
              <a:t>หมายเลขเฉพาะตัวโครงรถไถ</a:t>
            </a:r>
            <a:endParaRPr lang="en-US" sz="3600" b="1" dirty="0">
              <a:latin typeface="DB Heavent Black" panose="02000506060000020004" pitchFamily="2" charset="-34"/>
              <a:cs typeface="DB Heavent Black" panose="02000506060000020004" pitchFamily="2" charset="-34"/>
            </a:endParaRP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th-TH" sz="2400" b="1" dirty="0">
                <a:latin typeface="DB Heavent" panose="02000506060000020004" pitchFamily="2" charset="-34"/>
                <a:cs typeface="DB Heavent" panose="02000506060000020004" pitchFamily="2" charset="-34"/>
              </a:rPr>
              <a:t>หมายเลข </a:t>
            </a:r>
            <a:r>
              <a:rPr lang="en-US" sz="2400" b="1" dirty="0">
                <a:latin typeface="DB Heavent" panose="02000506060000020004" pitchFamily="2" charset="-34"/>
                <a:cs typeface="DB Heavent" panose="02000506060000020004" pitchFamily="2" charset="-34"/>
              </a:rPr>
              <a:t>NC –XXXXXX  </a:t>
            </a:r>
            <a:r>
              <a:rPr lang="th-TH" sz="2400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ตามด้วยตัวอักษรภาษาอังกฤษและหมายเลขโครงรถไถ </a:t>
            </a:r>
            <a:r>
              <a:rPr lang="en-US" sz="2400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5 </a:t>
            </a:r>
            <a:r>
              <a:rPr lang="th-TH" sz="2400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หลัก</a:t>
            </a:r>
            <a:endParaRPr lang="en-US" sz="2400" b="1" dirty="0">
              <a:solidFill>
                <a:srgbClr val="FF0000"/>
              </a:solidFill>
              <a:latin typeface="DB Heavent" panose="02000506060000020004" pitchFamily="2" charset="-34"/>
              <a:cs typeface="DB Heavent" panose="02000506060000020004" pitchFamily="2" charset="-34"/>
            </a:endParaRP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th-TH" sz="2400" b="1" dirty="0">
                <a:latin typeface="DB Heavent" panose="02000506060000020004" pitchFamily="2" charset="-34"/>
                <a:cs typeface="DB Heavent" panose="02000506060000020004" pitchFamily="2" charset="-34"/>
              </a:rPr>
              <a:t>ต้องตอกลึก คมชัด สังเกตเห็นชัดเจน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 flipV="1">
            <a:off x="3559629" y="2492829"/>
            <a:ext cx="3799114" cy="1556763"/>
          </a:xfrm>
          <a:prstGeom prst="bentConnector3">
            <a:avLst>
              <a:gd name="adj1" fmla="val 716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83ECA92-49E1-0671-F9D3-7649D2B2AB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51" t="11160" r="6885" b="25647"/>
          <a:stretch/>
        </p:blipFill>
        <p:spPr>
          <a:xfrm>
            <a:off x="8850143" y="3284636"/>
            <a:ext cx="2853362" cy="1603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2F2042-E7EC-274A-2D31-524D02F153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396" b="9066"/>
          <a:stretch/>
        </p:blipFill>
        <p:spPr>
          <a:xfrm>
            <a:off x="7358743" y="1505950"/>
            <a:ext cx="2503713" cy="16727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C29C8CF-592D-39C5-D08C-7F0CFFBE2417}"/>
              </a:ext>
            </a:extLst>
          </p:cNvPr>
          <p:cNvSpPr/>
          <p:nvPr/>
        </p:nvSpPr>
        <p:spPr>
          <a:xfrm>
            <a:off x="7845539" y="2153880"/>
            <a:ext cx="830375" cy="557372"/>
          </a:xfrm>
          <a:prstGeom prst="rect">
            <a:avLst/>
          </a:prstGeom>
          <a:noFill/>
          <a:ln w="28575">
            <a:solidFill>
              <a:srgbClr val="FF6600"/>
            </a:solidFill>
          </a:ln>
          <a:effectLst>
            <a:glow rad="38100">
              <a:srgbClr val="FF660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14625-710F-E584-D69A-13B352FEB88E}"/>
              </a:ext>
            </a:extLst>
          </p:cNvPr>
          <p:cNvSpPr txBox="1"/>
          <p:nvPr/>
        </p:nvSpPr>
        <p:spPr>
          <a:xfrm>
            <a:off x="5362714" y="1301564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04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99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085707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314" y="1731042"/>
            <a:ext cx="6430744" cy="4462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E2822-1798-43BB-61B9-BB6BB06F7CCF}"/>
              </a:ext>
            </a:extLst>
          </p:cNvPr>
          <p:cNvSpPr txBox="1"/>
          <p:nvPr/>
        </p:nvSpPr>
        <p:spPr>
          <a:xfrm>
            <a:off x="381000" y="360939"/>
            <a:ext cx="1086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4800" b="1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th-TH" sz="5400" dirty="0"/>
              <a:t>รวมจุดสังเกตรถไถเดินตาม ตราช้าง ของแท้ </a:t>
            </a:r>
            <a:r>
              <a:rPr lang="en-US" sz="5400" dirty="0"/>
              <a:t>!!!</a:t>
            </a:r>
            <a:endParaRPr lang="th-TH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255190" y="4269582"/>
            <a:ext cx="56063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เครื่องหมายการค้ารูป </a:t>
            </a:r>
            <a:r>
              <a:rPr lang="en-US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“</a:t>
            </a:r>
            <a:r>
              <a:rPr lang="th-TH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ช้างในฟันเฟือง</a:t>
            </a:r>
            <a:r>
              <a:rPr lang="en-US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”</a:t>
            </a:r>
            <a:r>
              <a:rPr lang="th-TH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บริเวณจุดยึดฝาครอบด้านบนของรถไถเดินตาม</a:t>
            </a: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รูปช้างต้องหันหน้าไปด้านซ้าย และยกเท้าหน้าข้างซ้าย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 flipV="1">
            <a:off x="3004457" y="2612571"/>
            <a:ext cx="4016829" cy="315686"/>
          </a:xfrm>
          <a:prstGeom prst="bentConnector3">
            <a:avLst>
              <a:gd name="adj1" fmla="val 136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6E8DA57-5816-17F8-C9F6-C0B27EEF9D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" t="5260" r="-979" b="663"/>
          <a:stretch/>
        </p:blipFill>
        <p:spPr>
          <a:xfrm>
            <a:off x="7206713" y="1519388"/>
            <a:ext cx="3427355" cy="2410355"/>
          </a:xfrm>
          <a:prstGeom prst="rect">
            <a:avLst/>
          </a:prstGeom>
          <a:ln w="5715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C5E8CF-35EE-4DE8-9A82-4D830C1A3029}"/>
              </a:ext>
            </a:extLst>
          </p:cNvPr>
          <p:cNvSpPr txBox="1"/>
          <p:nvPr/>
        </p:nvSpPr>
        <p:spPr>
          <a:xfrm>
            <a:off x="5362714" y="1301564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05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3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085707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314" y="1731042"/>
            <a:ext cx="6430744" cy="4462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BE2822-1798-43BB-61B9-BB6BB06F7CCF}"/>
              </a:ext>
            </a:extLst>
          </p:cNvPr>
          <p:cNvSpPr txBox="1"/>
          <p:nvPr/>
        </p:nvSpPr>
        <p:spPr>
          <a:xfrm>
            <a:off x="381000" y="360939"/>
            <a:ext cx="10863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sz="4800" b="1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th-TH" sz="5400" dirty="0"/>
              <a:t>รวมจุดสังเกตรถไถเดินตาม ตราช้าง ของแท้ </a:t>
            </a:r>
            <a:r>
              <a:rPr lang="en-US" sz="5400" dirty="0"/>
              <a:t>!!!</a:t>
            </a:r>
            <a:endParaRPr lang="th-TH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268430" y="4380486"/>
            <a:ext cx="56063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เครื่องหมายการค้ารูป </a:t>
            </a:r>
            <a:r>
              <a:rPr lang="en-US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“</a:t>
            </a:r>
            <a:r>
              <a:rPr lang="th-TH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ช้างในฟันเฟือง</a:t>
            </a:r>
            <a:r>
              <a:rPr lang="en-US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”</a:t>
            </a:r>
            <a:r>
              <a:rPr lang="th-TH" b="1" dirty="0">
                <a:solidFill>
                  <a:srgbClr val="FF0000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</a:p>
          <a:p>
            <a:pPr algn="ctr"/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บริเวณที่จับคันเปลี่ยนเกียร์ของรถไถเดินตาม ซึ่งรูปช้างต้องหันหน้าไปด้านซ้าย และยกเท้าหน้าข้างซ้าย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02B8E-F49F-93CC-CA79-3FF1AC808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749" y="1448885"/>
            <a:ext cx="3867846" cy="2588196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>
            <a:off x="1679944" y="2477514"/>
            <a:ext cx="5380075" cy="40390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00E06D9-AA86-FD4A-0A9A-E586C0C052E7}"/>
              </a:ext>
            </a:extLst>
          </p:cNvPr>
          <p:cNvSpPr/>
          <p:nvPr/>
        </p:nvSpPr>
        <p:spPr>
          <a:xfrm>
            <a:off x="1155405" y="2265132"/>
            <a:ext cx="523918" cy="403909"/>
          </a:xfrm>
          <a:prstGeom prst="rect">
            <a:avLst/>
          </a:prstGeom>
          <a:noFill/>
          <a:ln w="28575">
            <a:solidFill>
              <a:srgbClr val="FF6600"/>
            </a:solidFill>
          </a:ln>
          <a:effectLst>
            <a:glow rad="38100">
              <a:srgbClr val="FF660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FFFAD6-FF3F-5D8F-CD99-F6B02D113D69}"/>
              </a:ext>
            </a:extLst>
          </p:cNvPr>
          <p:cNvSpPr txBox="1"/>
          <p:nvPr/>
        </p:nvSpPr>
        <p:spPr>
          <a:xfrm>
            <a:off x="5362714" y="1301564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06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9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267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DB Heavent</vt:lpstr>
      <vt:lpstr>DB Heavent Black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Nuanphan Ngamkitwanit</dc:creator>
  <cp:lastModifiedBy>Saralchaya Siri-udomrat</cp:lastModifiedBy>
  <cp:revision>9</cp:revision>
  <dcterms:created xsi:type="dcterms:W3CDTF">2024-05-28T09:50:16Z</dcterms:created>
  <dcterms:modified xsi:type="dcterms:W3CDTF">2025-03-22T08:20:48Z</dcterms:modified>
</cp:coreProperties>
</file>