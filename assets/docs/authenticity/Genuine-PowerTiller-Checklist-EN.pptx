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65686" autoAdjust="0"/>
  </p:normalViewPr>
  <p:slideViewPr>
    <p:cSldViewPr snapToGrid="0">
      <p:cViewPr varScale="1">
        <p:scale>
          <a:sx n="39" d="100"/>
          <a:sy n="39" d="100"/>
        </p:scale>
        <p:origin x="168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67230-9651-4366-8FD1-433079B656BB}" type="datetimeFigureOut">
              <a:rPr lang="en-US" smtClean="0"/>
              <a:t>7/9/2024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B820A-9835-4C8F-9493-2A06CB597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6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85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เครื่องหมายการค้ารูป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“</a:t>
            </a:r>
            <a:r>
              <a:rPr lang="th-TH" dirty="0"/>
              <a:t>ช้างในฟันเฟือง</a:t>
            </a:r>
            <a:r>
              <a:rPr lang="en-US" dirty="0"/>
              <a:t>”</a:t>
            </a:r>
          </a:p>
          <a:p>
            <a:pPr marL="0" indent="0">
              <a:buFontTx/>
              <a:buNone/>
            </a:pPr>
            <a:r>
              <a:rPr lang="en-US" dirty="0"/>
              <a:t>- </a:t>
            </a:r>
            <a:r>
              <a:rPr lang="th-TH" dirty="0"/>
              <a:t>ช้างหันหน้าไปทางซ้าย และยกเท้าหน้าข้างซ้าย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h-TH" dirty="0"/>
              <a:t>ฟันเฟืองสีทองสว่าง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th-TH" dirty="0"/>
              <a:t>รูปช้างสีขาวบนพื้นวงกลมสีแดงสด</a:t>
            </a:r>
          </a:p>
          <a:p>
            <a:pPr marL="171450" indent="-171450">
              <a:buFontTx/>
              <a:buChar char="-"/>
            </a:pP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71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สติ๊กเกอร์เครื่องหมายการค้า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TRA CHANG </a:t>
            </a:r>
          </a:p>
          <a:p>
            <a:pPr marL="171450" indent="-171450">
              <a:buFontTx/>
              <a:buChar char="-"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• รูปช้างหันหน้าไปทางซ้าย ยกเท้าหน้าซ้าย 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pPr marL="171450" indent="-171450">
              <a:buFontTx/>
              <a:buChar char="-"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• ฟันเฟืองสีทองสว่าง 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pPr marL="171450" indent="-171450">
              <a:buFontTx/>
              <a:buChar char="-"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• เขียนว่า “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TRA CHANG” </a:t>
            </a: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มีขอบสีขาว และตัวหนังสือสีแดงสด 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pPr marL="171450" indent="-171450">
              <a:buFontTx/>
              <a:buChar char="-"/>
            </a:pP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• ต้องสะกดด้วยอักษร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T-R-A C-H-A-N-G </a:t>
            </a:r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เท่านั้น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7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th-TH" b="0" dirty="0">
                <a:effectLst/>
                <a:latin typeface="Tahoma" panose="020B0604030504040204" pitchFamily="34" charset="0"/>
              </a:rPr>
              <a:t>ชุดเสื้อเกียร์ (</a:t>
            </a:r>
            <a:r>
              <a:rPr lang="en-US" b="0" dirty="0">
                <a:effectLst/>
                <a:latin typeface="Tahoma" panose="020B0604030504040204" pitchFamily="34" charset="0"/>
              </a:rPr>
              <a:t>Transmission Case) </a:t>
            </a:r>
            <a:r>
              <a:rPr lang="th-TH" b="0" dirty="0">
                <a:effectLst/>
                <a:latin typeface="Tahoma" panose="020B0604030504040204" pitchFamily="34" charset="0"/>
              </a:rPr>
              <a:t>ต้องปั๊มนูนว่า “ตราช้าง”</a:t>
            </a:r>
            <a:endParaRPr lang="en-US" b="0" dirty="0">
              <a:effectLst/>
              <a:latin typeface="Tahoma" panose="020B0604030504040204" pitchFamily="34" charset="0"/>
            </a:endParaRPr>
          </a:p>
          <a:p>
            <a:pPr marL="0" indent="0">
              <a:buFontTx/>
              <a:buNone/>
            </a:pPr>
            <a:endParaRPr lang="en-US" b="0" dirty="0">
              <a:effectLst/>
              <a:latin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88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effectLst/>
                <a:latin typeface="Tahoma" panose="020B0604030504040204" pitchFamily="34" charset="0"/>
              </a:rPr>
              <a:t>- </a:t>
            </a:r>
            <a:r>
              <a:rPr lang="th-TH" b="0" dirty="0">
                <a:effectLst/>
                <a:latin typeface="Tahoma" panose="020B0604030504040204" pitchFamily="34" charset="0"/>
              </a:rPr>
              <a:t>หมายเลขเฉพาะตัวโครงรถไถ</a:t>
            </a:r>
            <a:br>
              <a:rPr lang="th-TH" b="0" dirty="0">
                <a:effectLst/>
                <a:latin typeface="Tahoma" panose="020B0604030504040204" pitchFamily="34" charset="0"/>
              </a:rPr>
            </a:br>
            <a:r>
              <a:rPr lang="th-TH" b="0" dirty="0">
                <a:effectLst/>
                <a:latin typeface="Tahoma" panose="020B0604030504040204" pitchFamily="34" charset="0"/>
              </a:rPr>
              <a:t>• หมายเลข </a:t>
            </a:r>
            <a:r>
              <a:rPr lang="en-US" b="0" dirty="0">
                <a:effectLst/>
                <a:latin typeface="Tahoma" panose="020B0604030504040204" pitchFamily="34" charset="0"/>
              </a:rPr>
              <a:t>NC –XXXXXX </a:t>
            </a:r>
            <a:r>
              <a:rPr lang="th-TH" b="0" dirty="0">
                <a:effectLst/>
                <a:latin typeface="Tahoma" panose="020B0604030504040204" pitchFamily="34" charset="0"/>
              </a:rPr>
              <a:t>ตามด้วยตัวอักษรภาษาอังกฤษและหมายเลขโครงรถไถ 5 หลัก</a:t>
            </a:r>
            <a:br>
              <a:rPr lang="th-TH" b="0" dirty="0">
                <a:effectLst/>
                <a:latin typeface="Tahoma" panose="020B0604030504040204" pitchFamily="34" charset="0"/>
              </a:rPr>
            </a:br>
            <a:r>
              <a:rPr lang="th-TH" b="0" dirty="0">
                <a:effectLst/>
                <a:latin typeface="Tahoma" panose="020B0604030504040204" pitchFamily="34" charset="0"/>
              </a:rPr>
              <a:t>• ฟอนท์ตัวเลขเล็กมีช่องว่างระหว่างตัวเลข </a:t>
            </a:r>
            <a:r>
              <a:rPr lang="en-US" b="0" dirty="0">
                <a:effectLst/>
                <a:latin typeface="Tahoma" panose="020B0604030504040204" pitchFamily="34" charset="0"/>
              </a:rPr>
              <a:t> </a:t>
            </a:r>
            <a:r>
              <a:rPr lang="th-TH" b="0" dirty="0">
                <a:effectLst/>
                <a:latin typeface="Tahoma" panose="020B0604030504040204" pitchFamily="34" charset="0"/>
              </a:rPr>
              <a:t>ต้องตอกลึก คมชัด สังเกตเห็นชัดเจน</a:t>
            </a:r>
            <a:endParaRPr lang="en-US" b="0" dirty="0">
              <a:effectLst/>
              <a:latin typeface="Tahoma" panose="020B0604030504040204" pitchFamily="34" charset="0"/>
            </a:endParaRPr>
          </a:p>
          <a:p>
            <a:pPr marL="171450" indent="-171450">
              <a:buFontTx/>
              <a:buChar char="-"/>
            </a:pPr>
            <a:endParaRPr lang="en-US" b="0" dirty="0">
              <a:effectLst/>
              <a:latin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57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เครื่องหมายการค้ารูป “ช้างในฟันเฟือง” บริเวณจุดยึดฝาครอบด้านบนของรถไถเดินตาม ซึ่งรูปช้างต้องหันหน้าไปด้านซ้าย และยกเท้าหน้าข้างซ้าย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  <a:p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40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docs-Tahoma"/>
              </a:rPr>
              <a:t>เครื่องหมายการค้ารูป “ช้างในฟันเฟือง” บริเวณที่จับคันเปลี่ยนเกียร์ของรถไถเดินตาม ซึ่งรูปช้างต้องหันหน้าไปด้านซ้าย และยกเท้าหน้าข้างซ้าย</a:t>
            </a:r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docs-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B820A-9835-4C8F-9493-2A06CB597E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87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F098-8DE4-4140-98AF-53A1A6908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49983-C1D5-5143-6260-A8A965E3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B67C8-278D-6004-D2BD-4E1AE6C3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169E3-F437-2D2A-EE89-DF80A938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6F20-48CB-CA2F-DF77-FF634E0C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714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F3A5-DF67-B74D-E22E-D836C279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B3AA0-9077-3627-79AD-C6DD45774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CE6F-9D34-64C3-EA88-9CBFD6DB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C11E-02EB-44E6-5104-94C52FE8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0E1E-08A0-F6BA-4461-8635D628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658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844A-32A0-9B51-4787-8B25F038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67FF-E2A2-78EA-0347-60EC7FA5D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A416-2E16-DBF3-D65C-7340AC0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1252F-3535-9E73-2FCD-18AE5739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5A08-2C69-47EE-7F73-39CF4BA2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062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CFCD-58F0-C028-CFAE-C9A7D90F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05827-22A5-A766-98E6-61B8BF721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0023C-FC29-5D2C-D305-9E4621A62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ECAD0-F9E1-6F76-F0A4-295AB39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9D107-7676-0E77-580D-EAC30FB5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99E5-6BEC-F953-A539-6D85D635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920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22FB-11A3-8389-51A4-80F1D2F3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CD75-0BAC-7789-A76D-7DE1E4788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11043-1ECD-423F-23D5-50A6152B3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1E3DB-0673-EFC2-9B24-8EAADFA83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1C6E8-F389-30F3-604F-7E1403BBD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E1B97-8027-BBB6-43FA-D35AA83A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68D1C-F0B8-09E1-594E-000B2CA2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E789E-8AFD-4047-8CC1-CE90A53F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456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F243-9444-E1C2-7F73-D2AB328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60CFE-BF98-FF46-9F57-6A16D4D7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F9234-79CC-89A7-D0AE-3CBD9556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09E40-8578-2890-796E-44248C38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610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E59DB-A3C2-373D-DACC-4E94F2C6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C5A77-AD7A-588D-B3EF-2DBC1DCA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9B8F-5F6B-E030-BEF3-45116FD5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064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D43F-7B37-648A-7ABE-418025E0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CEF1D-4C6D-641B-5E90-3E63DA98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80A8E-0AE5-A278-05CF-DE3BF9D13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C1C9A-077A-91E4-8C31-A732EC9B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4D7C7-EA6D-7BC1-1F0B-0DA80374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D2AA-D231-2966-EDA9-B8D74DEE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513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E82C-1711-A26B-6094-07DAE1C2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FFA23-8562-973E-22BF-B137E5554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675BE-7385-DC26-AEC4-D68EA774A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C77EB-0841-9D18-4B49-E1775FC7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B6536-4076-2650-631E-D0651A5A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76B22-1DE2-3E31-14C5-5C54CAC2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411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0EC8-5CB2-3BA5-8D19-B5035BAF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D2089-47F2-996F-F020-B5AFBA5B1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6429-A443-8264-FBDE-91C6B03E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3BD86-42E3-E05A-7EE4-4D9DFDFC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02795-A55E-458D-9C27-7B8E8D8C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109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996DA-8A0E-CA31-32CC-0A95D36E0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FC823-5220-8D64-FAD2-DAB6D5179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CC05F-FF70-9C79-FBAA-512299F4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8CEB-147F-F523-F88B-9C77EB83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4D12-E10A-0237-2E6D-73616BEC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595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012BE-D94C-AFFB-49CC-EC3D12EB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B575C-F7EC-263B-821F-EB7D4294B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DEE8A-DCF1-9E3E-095F-647A28621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57BE1-AFC4-46F5-A5CD-CDE342BD833B}" type="datetimeFigureOut">
              <a:rPr lang="th-TH" smtClean="0"/>
              <a:t>09/07/67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3326D-17C1-1E99-C9A6-9E54C6C0A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CBB23-A202-8DC8-63E5-D6630B20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58907-7C0D-4E15-9D33-386BCBB1DD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041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chine with wheels on it&#10;&#10;Description automatically generated">
            <a:extLst>
              <a:ext uri="{FF2B5EF4-FFF2-40B4-BE49-F238E27FC236}">
                <a16:creationId xmlns:a16="http://schemas.microsoft.com/office/drawing/2014/main" id="{B1937092-D5A7-60F4-1678-53771F76B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08" y="1906859"/>
            <a:ext cx="6832148" cy="474150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95FD8AB5-8F73-601B-9E02-B6C9FE82B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1036216"/>
            <a:ext cx="9189044" cy="1472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5B638-9727-9871-37A5-C016069FFED3}"/>
              </a:ext>
            </a:extLst>
          </p:cNvPr>
          <p:cNvSpPr txBox="1"/>
          <p:nvPr/>
        </p:nvSpPr>
        <p:spPr>
          <a:xfrm>
            <a:off x="-1023126" y="100804"/>
            <a:ext cx="13300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3D0049-393F-1472-2283-72FC1E0C7B2A}"/>
              </a:ext>
            </a:extLst>
          </p:cNvPr>
          <p:cNvSpPr txBox="1"/>
          <p:nvPr/>
        </p:nvSpPr>
        <p:spPr>
          <a:xfrm>
            <a:off x="4449337" y="2130327"/>
            <a:ext cx="63784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TP Kubua" panose="02000000000000000000" pitchFamily="2" charset="0"/>
                <a:cs typeface="TP Kubua" panose="02000000000000000000" pitchFamily="2" charset="0"/>
              </a:rPr>
              <a:t>POWER TILLER</a:t>
            </a:r>
          </a:p>
        </p:txBody>
      </p:sp>
    </p:spTree>
    <p:extLst>
      <p:ext uri="{BB962C8B-B14F-4D97-AF65-F5344CB8AC3E}">
        <p14:creationId xmlns:p14="http://schemas.microsoft.com/office/powerpoint/2010/main" val="291497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CC8417-9EE7-BBFE-8884-C2CF9C7A4255}"/>
              </a:ext>
            </a:extLst>
          </p:cNvPr>
          <p:cNvSpPr/>
          <p:nvPr/>
        </p:nvSpPr>
        <p:spPr>
          <a:xfrm>
            <a:off x="688030" y="1794168"/>
            <a:ext cx="10856270" cy="4064372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16EF5-B564-E6B5-3FD2-636DF995E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8" b="91236" l="9790" r="89977">
                        <a14:foregroundMark x1="44289" y1="91236" x2="43823" y2="894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842" y="2519421"/>
            <a:ext cx="3234973" cy="3355629"/>
          </a:xfrm>
          <a:prstGeom prst="rect">
            <a:avLst/>
          </a:prstGeom>
        </p:spPr>
      </p:pic>
      <p:sp>
        <p:nvSpPr>
          <p:cNvPr id="5" name="TextBox 85">
            <a:extLst>
              <a:ext uri="{FF2B5EF4-FFF2-40B4-BE49-F238E27FC236}">
                <a16:creationId xmlns:a16="http://schemas.microsoft.com/office/drawing/2014/main" id="{E577D11D-EE6C-E76A-4A68-A275F9EE4A7D}"/>
              </a:ext>
            </a:extLst>
          </p:cNvPr>
          <p:cNvSpPr txBox="1"/>
          <p:nvPr/>
        </p:nvSpPr>
        <p:spPr>
          <a:xfrm>
            <a:off x="3856813" y="3040301"/>
            <a:ext cx="752420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>
              <a:defRPr b="1">
                <a:latin typeface="DB Heavent Black" panose="02000506060000020004" pitchFamily="2" charset="-34"/>
                <a:cs typeface="DB Heavent Black" panose="02000506060000020004" pitchFamily="2" charset="-34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TRA CHANG Trademark</a:t>
            </a:r>
            <a:br>
              <a:rPr lang="th-TH" sz="2400" dirty="0">
                <a:latin typeface="Century Gothic" panose="020B0502020202020204" pitchFamily="34" charset="0"/>
              </a:rPr>
            </a:br>
            <a:r>
              <a:rPr lang="en-US" sz="2400" dirty="0">
                <a:latin typeface="Century Gothic" panose="020B0502020202020204" pitchFamily="34" charset="0"/>
              </a:rPr>
              <a:t>The elephant face left and raise left front foot</a:t>
            </a:r>
            <a:endParaRPr lang="th-TH" sz="24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Bright gold color gear</a:t>
            </a:r>
            <a:endParaRPr lang="th-TH" sz="2400" dirty="0">
              <a:latin typeface="Century Gothic" panose="020B0502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White elephant figure on a vibrant red circular background</a:t>
            </a:r>
            <a:endParaRPr lang="th-TH" sz="2400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DB309-70A5-DC5F-E5CF-88CBC7D8EEF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1883622" y="1483142"/>
            <a:ext cx="5358760" cy="1390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CFC971-0CAA-7098-F9D3-FDC8DBBF03D8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06E92-4D4A-9F27-826E-16E3BD8D98A7}"/>
              </a:ext>
            </a:extLst>
          </p:cNvPr>
          <p:cNvSpPr txBox="1"/>
          <p:nvPr/>
        </p:nvSpPr>
        <p:spPr>
          <a:xfrm>
            <a:off x="366711" y="1644208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01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4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332" y="1818127"/>
            <a:ext cx="6430744" cy="4462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CD37CE-A5EB-8829-CD25-11F1D3B9F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279" y="1377286"/>
            <a:ext cx="3896549" cy="2922412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0A82FE1-7E30-ACEA-EB53-D40ED9731F96}"/>
              </a:ext>
            </a:extLst>
          </p:cNvPr>
          <p:cNvCxnSpPr>
            <a:cxnSpLocks/>
          </p:cNvCxnSpPr>
          <p:nvPr/>
        </p:nvCxnSpPr>
        <p:spPr>
          <a:xfrm flipV="1">
            <a:off x="2252487" y="2590800"/>
            <a:ext cx="5977113" cy="415513"/>
          </a:xfrm>
          <a:prstGeom prst="bentConnector3">
            <a:avLst>
              <a:gd name="adj1" fmla="val 281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231C99-066C-ACE7-5474-98693BFF09F3}"/>
              </a:ext>
            </a:extLst>
          </p:cNvPr>
          <p:cNvSpPr txBox="1"/>
          <p:nvPr/>
        </p:nvSpPr>
        <p:spPr>
          <a:xfrm>
            <a:off x="6273672" y="4461183"/>
            <a:ext cx="5580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                                               </a:t>
            </a:r>
            <a:r>
              <a:rPr lang="en-US" sz="2400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Trademark sticker</a:t>
            </a:r>
            <a:endParaRPr lang="th-TH" sz="2400" b="1" dirty="0">
              <a:latin typeface="Century Gothic" panose="020B0502020202020204" pitchFamily="34" charset="0"/>
              <a:cs typeface="DB Heavent Black" panose="02000506060000020004" pitchFamily="2" charset="-3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The elephant face left and raise left front foot</a:t>
            </a:r>
            <a:endParaRPr lang="th-TH" sz="1800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18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 </a:t>
            </a:r>
            <a:r>
              <a:rPr lang="en-US" sz="18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Bright gold color gear</a:t>
            </a:r>
            <a:endParaRPr lang="th-TH" sz="1800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th-TH" sz="18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 </a:t>
            </a:r>
            <a:r>
              <a:rPr lang="en-US" sz="18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Must spell "TRA CHANG" with white border and vibrant red alphabet</a:t>
            </a:r>
            <a:endParaRPr lang="th-TH" sz="1800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DB309-70A5-DC5F-E5CF-88CBC7D8EEF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6286499" y="4340819"/>
            <a:ext cx="2400877" cy="623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E2BF14-42FD-EB68-AB73-FD59D6CFF7B5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C87D66-F717-599F-6D68-E9542159E9B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6" r="19233"/>
          <a:stretch/>
        </p:blipFill>
        <p:spPr>
          <a:xfrm>
            <a:off x="2391915" y="1975758"/>
            <a:ext cx="2542564" cy="659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F7D25-5E6F-02D4-42DF-B41277650793}"/>
              </a:ext>
            </a:extLst>
          </p:cNvPr>
          <p:cNvSpPr txBox="1"/>
          <p:nvPr/>
        </p:nvSpPr>
        <p:spPr>
          <a:xfrm>
            <a:off x="5444897" y="1105365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02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19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332" y="1818127"/>
            <a:ext cx="6430744" cy="44629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A5AD0C-5533-5E53-9E7C-420103B184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094" t="3693" r="22395" b="56037"/>
          <a:stretch/>
        </p:blipFill>
        <p:spPr>
          <a:xfrm>
            <a:off x="7849680" y="1648697"/>
            <a:ext cx="2539746" cy="2471889"/>
          </a:xfrm>
          <a:prstGeom prst="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043774" y="4328176"/>
            <a:ext cx="5968612" cy="175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  <a:cs typeface="DB Heavent Black" panose="02000506060000020004" pitchFamily="2" charset="-34"/>
              </a:rPr>
              <a:t>Transmission case </a:t>
            </a:r>
            <a:endParaRPr lang="th-TH" b="1" dirty="0">
              <a:solidFill>
                <a:srgbClr val="FF0000"/>
              </a:solidFill>
              <a:latin typeface="Century Gothic" panose="020B0502020202020204" pitchFamily="34" charset="0"/>
              <a:cs typeface="DB Heavent Black" panose="02000506060000020004" pitchFamily="2" charset="-34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must embossed with </a:t>
            </a:r>
            <a:endParaRPr lang="th-TH" b="1" dirty="0">
              <a:latin typeface="Century Gothic" panose="020B0502020202020204" pitchFamily="34" charset="0"/>
              <a:cs typeface="DB Heavent Black" panose="02000506060000020004" pitchFamily="2" charset="-34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"TRA CHANG" </a:t>
            </a:r>
            <a:r>
              <a:rPr lang="en-US" sz="2000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(Thai wording) logo</a:t>
            </a:r>
            <a:endParaRPr lang="th-TH" sz="2000" b="1" dirty="0">
              <a:latin typeface="Century Gothic" panose="020B0502020202020204" pitchFamily="34" charset="0"/>
              <a:cs typeface="DB Heavent Black" panose="02000506060000020004" pitchFamily="2" charset="-34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733800" y="2884642"/>
            <a:ext cx="3970610" cy="1052382"/>
          </a:xfrm>
          <a:prstGeom prst="bentConnector3">
            <a:avLst>
              <a:gd name="adj1" fmla="val -171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8E22D3-0876-EE0A-E7C4-E837CBBF4B09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742F7-7ACC-9ABA-E875-9C7F1DE721A8}"/>
              </a:ext>
            </a:extLst>
          </p:cNvPr>
          <p:cNvSpPr txBox="1"/>
          <p:nvPr/>
        </p:nvSpPr>
        <p:spPr>
          <a:xfrm>
            <a:off x="5444897" y="1105365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03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9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095757" y="1137312"/>
            <a:ext cx="5794624" cy="5557402"/>
          </a:xfrm>
          <a:prstGeom prst="roundRect">
            <a:avLst>
              <a:gd name="adj" fmla="val 6003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628" y="1584085"/>
            <a:ext cx="6430744" cy="446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205402" y="4526231"/>
            <a:ext cx="565232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entury Gothic" panose="020B0502020202020204" pitchFamily="34" charset="0"/>
                <a:cs typeface="DB Heavent Black" panose="02000506060000020004" pitchFamily="2" charset="-34"/>
              </a:rPr>
              <a:t>Unique PT frame number</a:t>
            </a:r>
            <a:endParaRPr lang="th-TH" b="1" dirty="0">
              <a:latin typeface="Century Gothic" panose="020B0502020202020204" pitchFamily="34" charset="0"/>
              <a:cs typeface="DB Heavent Black" panose="02000506060000020004" pitchFamily="2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NC -XXXXXX number follow with 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English alphabet and 5 digits PT frame number. </a:t>
            </a:r>
            <a:endParaRPr lang="th-TH" sz="2000" b="1" dirty="0">
              <a:solidFill>
                <a:srgbClr val="FF0000"/>
              </a:solidFill>
              <a:latin typeface="Century Gothic" panose="020B0502020202020204" pitchFamily="34" charset="0"/>
              <a:cs typeface="DB Heavent" panose="02000506060000020004" pitchFamily="2" charset="-3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  <a:cs typeface="DB Heavent" panose="02000506060000020004" pitchFamily="2" charset="-34"/>
              </a:rPr>
              <a:t>Must be deeply and clearly stamped and easily visible.</a:t>
            </a:r>
            <a:endParaRPr lang="th-TH" sz="2000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494315" y="2345872"/>
            <a:ext cx="3799114" cy="1556763"/>
          </a:xfrm>
          <a:prstGeom prst="bentConnector3">
            <a:avLst>
              <a:gd name="adj1" fmla="val 716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83ECA92-49E1-0671-F9D3-7649D2B2AB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51" t="11160" r="6885" b="25647"/>
          <a:stretch/>
        </p:blipFill>
        <p:spPr>
          <a:xfrm>
            <a:off x="8703187" y="2860093"/>
            <a:ext cx="2853362" cy="1603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2F2042-E7EC-274A-2D31-524D02F153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396" b="9066"/>
          <a:stretch/>
        </p:blipFill>
        <p:spPr>
          <a:xfrm>
            <a:off x="6803572" y="1412712"/>
            <a:ext cx="2503713" cy="16727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C29C8CF-592D-39C5-D08C-7F0CFFBE2417}"/>
              </a:ext>
            </a:extLst>
          </p:cNvPr>
          <p:cNvSpPr/>
          <p:nvPr/>
        </p:nvSpPr>
        <p:spPr>
          <a:xfrm>
            <a:off x="7290368" y="2060642"/>
            <a:ext cx="830375" cy="557372"/>
          </a:xfrm>
          <a:prstGeom prst="rect">
            <a:avLst/>
          </a:prstGeom>
          <a:noFill/>
          <a:ln w="28575">
            <a:solidFill>
              <a:srgbClr val="FF6600"/>
            </a:solidFill>
          </a:ln>
          <a:effectLst>
            <a:glow rad="38100">
              <a:srgbClr val="FF66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E8A41-9048-720C-6305-38D3D73BC506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6E367-1CF3-1BCF-1675-7D22F75234A1}"/>
              </a:ext>
            </a:extLst>
          </p:cNvPr>
          <p:cNvSpPr txBox="1"/>
          <p:nvPr/>
        </p:nvSpPr>
        <p:spPr>
          <a:xfrm>
            <a:off x="5053011" y="1105365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04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9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2" y="1300597"/>
            <a:ext cx="5807772" cy="5345131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313" y="1747370"/>
            <a:ext cx="6430744" cy="446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565433" y="4302240"/>
            <a:ext cx="5305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The elephant symbol </a:t>
            </a:r>
            <a:r>
              <a:rPr lang="en-US" b="1" u="sng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on the PT frame’s top cover </a:t>
            </a:r>
            <a:r>
              <a:rPr lang="en-US" b="1" dirty="0">
                <a:latin typeface="Century Gothic" panose="020B0502020202020204" pitchFamily="34" charset="0"/>
                <a:cs typeface="DB Heavent" panose="02000506060000020004" pitchFamily="2" charset="-34"/>
              </a:rPr>
              <a:t>must face left and raise left front foot inside the gear.</a:t>
            </a:r>
            <a:endParaRPr lang="th-TH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 flipV="1">
            <a:off x="3004458" y="2628899"/>
            <a:ext cx="4016829" cy="315686"/>
          </a:xfrm>
          <a:prstGeom prst="bentConnector3">
            <a:avLst>
              <a:gd name="adj1" fmla="val 136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6E8DA57-5816-17F8-C9F6-C0B27EEF9D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" t="5260" r="-979" b="663"/>
          <a:stretch/>
        </p:blipFill>
        <p:spPr>
          <a:xfrm>
            <a:off x="7206714" y="1535716"/>
            <a:ext cx="3427355" cy="2410355"/>
          </a:xfrm>
          <a:prstGeom prst="rect">
            <a:avLst/>
          </a:prstGeom>
          <a:ln w="5715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873BFF-655F-4072-1D8F-BDEA3C099D77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EC6F4-D3AB-1737-66FD-ED9E15129F0D}"/>
              </a:ext>
            </a:extLst>
          </p:cNvPr>
          <p:cNvSpPr txBox="1"/>
          <p:nvPr/>
        </p:nvSpPr>
        <p:spPr>
          <a:xfrm>
            <a:off x="5183640" y="1350294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05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63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5757E7-0D17-A493-F91B-309F6199FE29}"/>
              </a:ext>
            </a:extLst>
          </p:cNvPr>
          <p:cNvSpPr/>
          <p:nvPr/>
        </p:nvSpPr>
        <p:spPr>
          <a:xfrm>
            <a:off x="6161071" y="1284269"/>
            <a:ext cx="5794624" cy="5085707"/>
          </a:xfrm>
          <a:prstGeom prst="roundRect">
            <a:avLst>
              <a:gd name="adj" fmla="val 13138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4" name="Picture 3" descr="A machine with wheels on it&#10;&#10;Description automatically generated">
            <a:extLst>
              <a:ext uri="{FF2B5EF4-FFF2-40B4-BE49-F238E27FC236}">
                <a16:creationId xmlns:a16="http://schemas.microsoft.com/office/drawing/2014/main" id="{575E95DA-68AD-A571-28D5-000B07781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314" y="1731042"/>
            <a:ext cx="6430744" cy="446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4AFB35-6A3E-C430-8659-2FF3A8C406F5}"/>
              </a:ext>
            </a:extLst>
          </p:cNvPr>
          <p:cNvSpPr txBox="1"/>
          <p:nvPr/>
        </p:nvSpPr>
        <p:spPr>
          <a:xfrm>
            <a:off x="6382730" y="4298843"/>
            <a:ext cx="54554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The elephant symbol </a:t>
            </a:r>
            <a:r>
              <a:rPr lang="en-US" b="1" u="sng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on the gear shift lever</a:t>
            </a:r>
            <a:r>
              <a:rPr lang="en-US" b="1" dirty="0">
                <a:solidFill>
                  <a:srgbClr val="FF0000"/>
                </a:solidFill>
                <a:latin typeface="Century Gothic" panose="020B0502020202020204" pitchFamily="34" charset="0"/>
                <a:cs typeface="DB Heavent" panose="02000506060000020004" pitchFamily="2" charset="-34"/>
              </a:rPr>
              <a:t> </a:t>
            </a:r>
            <a:r>
              <a:rPr lang="en-US" b="1" dirty="0">
                <a:latin typeface="Century Gothic" panose="020B0502020202020204" pitchFamily="34" charset="0"/>
                <a:cs typeface="DB Heavent" panose="02000506060000020004" pitchFamily="2" charset="-34"/>
              </a:rPr>
              <a:t>must face left and raise left front foot inside the gear.</a:t>
            </a:r>
            <a:endParaRPr lang="th-TH" b="1" dirty="0">
              <a:latin typeface="Century Gothic" panose="020B0502020202020204" pitchFamily="34" charset="0"/>
              <a:cs typeface="DB Heavent" panose="02000506060000020004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02B8E-F49F-93CC-CA79-3FF1AC808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749" y="1448885"/>
            <a:ext cx="3867846" cy="2588196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E46E635-3977-389D-70B1-A75AD2F36DEB}"/>
              </a:ext>
            </a:extLst>
          </p:cNvPr>
          <p:cNvCxnSpPr>
            <a:cxnSpLocks/>
          </p:cNvCxnSpPr>
          <p:nvPr/>
        </p:nvCxnSpPr>
        <p:spPr>
          <a:xfrm>
            <a:off x="1679944" y="2477514"/>
            <a:ext cx="5380075" cy="40390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00E06D9-AA86-FD4A-0A9A-E586C0C052E7}"/>
              </a:ext>
            </a:extLst>
          </p:cNvPr>
          <p:cNvSpPr/>
          <p:nvPr/>
        </p:nvSpPr>
        <p:spPr>
          <a:xfrm>
            <a:off x="1155405" y="2265132"/>
            <a:ext cx="523918" cy="403909"/>
          </a:xfrm>
          <a:prstGeom prst="rect">
            <a:avLst/>
          </a:prstGeom>
          <a:noFill/>
          <a:ln w="28575">
            <a:solidFill>
              <a:srgbClr val="FF6600"/>
            </a:solidFill>
          </a:ln>
          <a:effectLst>
            <a:glow rad="38100">
              <a:srgbClr val="FF66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54FE6-9962-1CF1-4DE2-065ADC69694F}"/>
              </a:ext>
            </a:extLst>
          </p:cNvPr>
          <p:cNvSpPr txBox="1"/>
          <p:nvPr/>
        </p:nvSpPr>
        <p:spPr>
          <a:xfrm>
            <a:off x="225811" y="223468"/>
            <a:ext cx="131110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  <a:latin typeface="DB Heavent Black" panose="02000506060000020004" pitchFamily="2" charset="-34"/>
                <a:cs typeface="DB Heavent Black" panose="02000506060000020004" pitchFamily="2" charset="-34"/>
              </a:rPr>
              <a:t>How to check the genuine TRA CHANG Power Tiller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AA44D-935E-E993-5392-852DF027EF07}"/>
              </a:ext>
            </a:extLst>
          </p:cNvPr>
          <p:cNvSpPr txBox="1"/>
          <p:nvPr/>
        </p:nvSpPr>
        <p:spPr>
          <a:xfrm>
            <a:off x="5199968" y="1252322"/>
            <a:ext cx="2662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cap="all" spc="200" dirty="0">
                <a:solidFill>
                  <a:schemeClr val="bg1"/>
                </a:solidFill>
                <a:effectLst>
                  <a:outerShdw blurRad="266700" dist="38100" dir="2700000" algn="tl">
                    <a:srgbClr val="000000"/>
                  </a:outerShdw>
                </a:effectLst>
                <a:latin typeface="Poppins" panose="00000500000000000000" pitchFamily="2" charset="0"/>
                <a:ea typeface="Lato Light" panose="020F0502020204030203" pitchFamily="34" charset="0"/>
              </a:rPr>
              <a:t>06 </a:t>
            </a:r>
            <a:endParaRPr lang="th-TH" sz="7200" b="1" cap="all" spc="200" dirty="0">
              <a:solidFill>
                <a:schemeClr val="bg1"/>
              </a:solidFill>
              <a:effectLst>
                <a:outerShdw blurRad="266700" dist="38100" dir="2700000" algn="tl">
                  <a:srgbClr val="000000"/>
                </a:outerShdw>
              </a:effectLst>
              <a:latin typeface="Poppins" panose="00000500000000000000" pitchFamily="2" charset="0"/>
              <a:ea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9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413</Words>
  <Application>Microsoft Office PowerPoint</Application>
  <PresentationFormat>Widescreen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DB Heavent Black</vt:lpstr>
      <vt:lpstr>docs-Tahoma</vt:lpstr>
      <vt:lpstr>Poppins</vt:lpstr>
      <vt:lpstr>Tahoma</vt:lpstr>
      <vt:lpstr>TP Kubua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Nuanphan Ngamkitwanit</dc:creator>
  <cp:lastModifiedBy>Saralchaya Siri-udomrat</cp:lastModifiedBy>
  <cp:revision>26</cp:revision>
  <dcterms:created xsi:type="dcterms:W3CDTF">2024-05-28T09:50:16Z</dcterms:created>
  <dcterms:modified xsi:type="dcterms:W3CDTF">2024-07-09T00:38:14Z</dcterms:modified>
</cp:coreProperties>
</file>