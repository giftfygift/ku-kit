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</p:sldIdLst>
  <p:sldSz cx="12192000" cy="6858000"/>
  <p:notesSz cx="6858000" cy="9144000"/>
  <p:embeddedFontLst>
    <p:embeddedFont>
      <p:font typeface="Kanit" pitchFamily="2" charset="-34"/>
      <p:regular r:id="rId10"/>
      <p:bold r:id="rId11"/>
      <p:italic r:id="rId12"/>
      <p:boldItalic r:id="rId13"/>
    </p:embeddedFont>
    <p:embeddedFont>
      <p:font typeface="Montserrat ExtraBold" panose="00000900000000000000" pitchFamily="2" charset="0"/>
      <p:bold r:id="rId14"/>
      <p:boldItalic r:id="rId15"/>
    </p:embeddedFont>
    <p:embeddedFont>
      <p:font typeface="Montserrat Light" panose="000004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42U+RbIoe7OzwMpLD++TT+8rb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" name="Google Shape;46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0" name="Google Shape;51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4"/>
            <a:ext cx="12192000" cy="685803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3"/>
          <p:cNvSpPr txBox="1">
            <a:spLocks noGrp="1"/>
          </p:cNvSpPr>
          <p:nvPr>
            <p:ph type="ctrTitle"/>
          </p:nvPr>
        </p:nvSpPr>
        <p:spPr>
          <a:xfrm>
            <a:off x="3069400" y="1630935"/>
            <a:ext cx="6053200" cy="35960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932000" y="1215600"/>
            <a:ext cx="2694400" cy="44368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/>
          </p:nvPr>
        </p:nvSpPr>
        <p:spPr>
          <a:xfrm>
            <a:off x="5125767" y="1073767"/>
            <a:ext cx="3000400" cy="47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 sz="2400"/>
            </a:lvl1pPr>
            <a:lvl2pPr marL="914400" lvl="1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2pPr>
            <a:lvl3pPr marL="1371600" lvl="2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1828800" lvl="3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4pPr>
            <a:lvl5pPr marL="2286000" lvl="4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5pPr>
            <a:lvl6pPr marL="2743200" lvl="5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6pPr>
            <a:lvl7pPr marL="3200400" lvl="6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7pPr>
            <a:lvl8pPr marL="3657600" lvl="7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8pPr>
            <a:lvl9pPr marL="4114800" lvl="8" indent="-342900" algn="l">
              <a:lnSpc>
                <a:spcPct val="115000"/>
              </a:lnSpc>
              <a:spcBef>
                <a:spcPts val="1333"/>
              </a:spcBef>
              <a:spcAft>
                <a:spcPts val="1333"/>
              </a:spcAft>
              <a:buSzPts val="1800"/>
              <a:buChar char="◦"/>
              <a:defRPr sz="2400"/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body" idx="2"/>
          </p:nvPr>
        </p:nvSpPr>
        <p:spPr>
          <a:xfrm>
            <a:off x="8582165" y="1073767"/>
            <a:ext cx="3000400" cy="47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 sz="2400"/>
            </a:lvl1pPr>
            <a:lvl2pPr marL="914400" lvl="1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2pPr>
            <a:lvl3pPr marL="1371600" lvl="2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1828800" lvl="3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4pPr>
            <a:lvl5pPr marL="2286000" lvl="4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5pPr>
            <a:lvl6pPr marL="2743200" lvl="5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6pPr>
            <a:lvl7pPr marL="3200400" lvl="6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7pPr>
            <a:lvl8pPr marL="3657600" lvl="7" indent="-3429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8pPr>
            <a:lvl9pPr marL="4114800" lvl="8" indent="-342900" algn="l">
              <a:lnSpc>
                <a:spcPct val="115000"/>
              </a:lnSpc>
              <a:spcBef>
                <a:spcPts val="1333"/>
              </a:spcBef>
              <a:spcAft>
                <a:spcPts val="1333"/>
              </a:spcAft>
              <a:buSzPts val="1800"/>
              <a:buChar char="◦"/>
              <a:defRPr sz="2400"/>
            </a:lvl9pPr>
          </a:lstStyle>
          <a:p>
            <a:endParaRPr/>
          </a:p>
        </p:txBody>
      </p:sp>
      <p:sp>
        <p:nvSpPr>
          <p:cNvPr id="21" name="Google Shape;21;p34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buClr>
                <a:srgbClr val="B7B7B7"/>
              </a:buClr>
              <a:buSzPts val="1600"/>
              <a:buFont typeface="Montserrat Light"/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lvl="1" indent="0" algn="r">
              <a:buClr>
                <a:srgbClr val="B7B7B7"/>
              </a:buClr>
              <a:buSzPts val="1600"/>
              <a:buFont typeface="Montserrat Light"/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lvl="2" indent="0" algn="r">
              <a:buClr>
                <a:srgbClr val="B7B7B7"/>
              </a:buClr>
              <a:buSzPts val="1600"/>
              <a:buFont typeface="Montserrat Light"/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lvl="3" indent="0" algn="r">
              <a:buClr>
                <a:srgbClr val="B7B7B7"/>
              </a:buClr>
              <a:buSzPts val="1600"/>
              <a:buFont typeface="Montserrat Light"/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lvl="4" indent="0" algn="r">
              <a:buClr>
                <a:srgbClr val="B7B7B7"/>
              </a:buClr>
              <a:buSzPts val="1600"/>
              <a:buFont typeface="Montserrat Light"/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lvl="5" indent="0" algn="r">
              <a:buClr>
                <a:srgbClr val="B7B7B7"/>
              </a:buClr>
              <a:buSzPts val="1600"/>
              <a:buFont typeface="Montserrat Light"/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lvl="6" indent="0" algn="r">
              <a:buClr>
                <a:srgbClr val="B7B7B7"/>
              </a:buClr>
              <a:buSzPts val="1600"/>
              <a:buFont typeface="Montserrat Light"/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lvl="7" indent="0" algn="r">
              <a:buClr>
                <a:srgbClr val="B7B7B7"/>
              </a:buClr>
              <a:buSzPts val="1600"/>
              <a:buFont typeface="Montserrat Light"/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lvl="8" indent="0" algn="r">
              <a:buClr>
                <a:srgbClr val="B7B7B7"/>
              </a:buClr>
              <a:buSzPts val="1600"/>
              <a:buFont typeface="Montserrat Light"/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78D8"/>
            </a:gs>
            <a:gs pos="100000">
              <a:srgbClr val="00FFFF"/>
            </a:gs>
          </a:gsLst>
          <a:lin ang="5400012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932000" y="1215600"/>
            <a:ext cx="2694400" cy="44368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 b="0" i="0" u="none" strike="noStrike" cap="non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 b="0" i="0" u="none" strike="noStrike" cap="non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 b="0" i="0" u="none" strike="noStrike" cap="non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 b="0" i="0" u="none" strike="noStrike" cap="non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 b="0" i="0" u="none" strike="noStrike" cap="non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 b="0" i="0" u="none" strike="noStrike" cap="non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 b="0" i="0" u="none" strike="noStrike" cap="non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 b="0" i="0" u="none" strike="noStrike" cap="non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 b="0" i="0" u="none" strike="noStrike" cap="non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5125767" y="1073768"/>
            <a:ext cx="6456800" cy="4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buClr>
                <a:srgbClr val="B7B7B7"/>
              </a:buClr>
              <a:buSzPts val="1600"/>
              <a:buFont typeface="Montserrat Light"/>
              <a:buNone/>
              <a:defRPr sz="1600" b="0" i="0" u="none" strike="noStrike" cap="non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lvl="1" indent="0" algn="r" rtl="0">
              <a:buClr>
                <a:srgbClr val="B7B7B7"/>
              </a:buClr>
              <a:buSzPts val="1600"/>
              <a:buFont typeface="Montserrat Light"/>
              <a:buNone/>
              <a:defRPr sz="1600" b="0" i="0" u="none" strike="noStrike" cap="non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lvl="2" indent="0" algn="r" rtl="0">
              <a:buClr>
                <a:srgbClr val="B7B7B7"/>
              </a:buClr>
              <a:buSzPts val="1600"/>
              <a:buFont typeface="Montserrat Light"/>
              <a:buNone/>
              <a:defRPr sz="1600" b="0" i="0" u="none" strike="noStrike" cap="non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lvl="3" indent="0" algn="r" rtl="0">
              <a:buClr>
                <a:srgbClr val="B7B7B7"/>
              </a:buClr>
              <a:buSzPts val="1600"/>
              <a:buFont typeface="Montserrat Light"/>
              <a:buNone/>
              <a:defRPr sz="1600" b="0" i="0" u="none" strike="noStrike" cap="non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lvl="4" indent="0" algn="r" rtl="0">
              <a:buClr>
                <a:srgbClr val="B7B7B7"/>
              </a:buClr>
              <a:buSzPts val="1600"/>
              <a:buFont typeface="Montserrat Light"/>
              <a:buNone/>
              <a:defRPr sz="1600" b="0" i="0" u="none" strike="noStrike" cap="non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lvl="5" indent="0" algn="r" rtl="0">
              <a:buClr>
                <a:srgbClr val="B7B7B7"/>
              </a:buClr>
              <a:buSzPts val="1600"/>
              <a:buFont typeface="Montserrat Light"/>
              <a:buNone/>
              <a:defRPr sz="1600" b="0" i="0" u="none" strike="noStrike" cap="non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lvl="6" indent="0" algn="r" rtl="0">
              <a:buClr>
                <a:srgbClr val="B7B7B7"/>
              </a:buClr>
              <a:buSzPts val="1600"/>
              <a:buFont typeface="Montserrat Light"/>
              <a:buNone/>
              <a:defRPr sz="1600" b="0" i="0" u="none" strike="noStrike" cap="non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lvl="7" indent="0" algn="r" rtl="0">
              <a:buClr>
                <a:srgbClr val="B7B7B7"/>
              </a:buClr>
              <a:buSzPts val="1600"/>
              <a:buFont typeface="Montserrat Light"/>
              <a:buNone/>
              <a:defRPr sz="1600" b="0" i="0" u="none" strike="noStrike" cap="non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lvl="8" indent="0" algn="r" rtl="0">
              <a:buClr>
                <a:srgbClr val="B7B7B7"/>
              </a:buClr>
              <a:buSzPts val="1600"/>
              <a:buFont typeface="Montserrat Light"/>
              <a:buNone/>
              <a:defRPr sz="1600" b="0" i="0" u="none" strike="noStrike" cap="none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6.jpg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6.jp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6.jp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4"/>
          <p:cNvSpPr txBox="1"/>
          <p:nvPr/>
        </p:nvSpPr>
        <p:spPr>
          <a:xfrm>
            <a:off x="406782" y="1933741"/>
            <a:ext cx="11785218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Kanit"/>
              <a:buNone/>
            </a:pPr>
            <a:r>
              <a:rPr lang="en-US" sz="40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H</a:t>
            </a:r>
            <a:r>
              <a:rPr lang="en-US" sz="40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ow to maintenance your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Kanit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KUBOTA diesel engine</a:t>
            </a:r>
            <a:endParaRPr sz="4000" b="0" i="0" u="none" strike="noStrike" cap="none">
              <a:solidFill>
                <a:srgbClr val="00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447" name="Google Shape;447;p24" descr="A close-up of a machine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6411" y="3135127"/>
            <a:ext cx="4545386" cy="3788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4" descr="A picture containing orange, watch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3635" y="2846174"/>
            <a:ext cx="3691589" cy="307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5"/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Kanit"/>
              <a:buNone/>
            </a:pPr>
            <a:r>
              <a:rPr lang="en-US" sz="32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Key points to maintenance</a:t>
            </a:r>
            <a:endParaRPr sz="3200" b="0" i="0" u="none" strike="noStrike" cap="none">
              <a:solidFill>
                <a:srgbClr val="00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454" name="Google Shape;454;p25" descr="A picture containing text, clipar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98230" y="330364"/>
            <a:ext cx="3163130" cy="54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5" descr="An orange and white machine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 l="11875" t="15283" r="12593" b="9180"/>
          <a:stretch/>
        </p:blipFill>
        <p:spPr>
          <a:xfrm>
            <a:off x="163434" y="2542770"/>
            <a:ext cx="4049392" cy="3374143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5"/>
          <p:cNvSpPr txBox="1"/>
          <p:nvPr/>
        </p:nvSpPr>
        <p:spPr>
          <a:xfrm>
            <a:off x="4456231" y="1443943"/>
            <a:ext cx="677374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0070C0"/>
                </a:solidFill>
                <a:latin typeface="Kanit"/>
                <a:ea typeface="Kanit"/>
                <a:cs typeface="Kanit"/>
                <a:sym typeface="Kanit"/>
              </a:rPr>
              <a:t>5 Key Points</a:t>
            </a:r>
            <a:endParaRPr sz="6000" b="1">
              <a:solidFill>
                <a:srgbClr val="0070C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457" name="Google Shape;457;p25"/>
          <p:cNvSpPr txBox="1"/>
          <p:nvPr/>
        </p:nvSpPr>
        <p:spPr>
          <a:xfrm>
            <a:off x="4494332" y="2519777"/>
            <a:ext cx="7192843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Kanit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1) the air filter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Kanit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2) the fuel system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Kanit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3) the engine oil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Kanit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4) the cooling water system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Kanit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5) the fan belt</a:t>
            </a:r>
            <a:endParaRPr sz="3600" b="0" i="0" u="none" strike="noStrike" cap="none">
              <a:solidFill>
                <a:srgbClr val="00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6"/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Kanit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1. Maintenance the air filter system</a:t>
            </a:r>
            <a:endParaRPr sz="3200" b="0" i="0" u="none" strike="noStrike" cap="none">
              <a:solidFill>
                <a:srgbClr val="00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463" name="Google Shape;463;p26"/>
          <p:cNvSpPr txBox="1"/>
          <p:nvPr/>
        </p:nvSpPr>
        <p:spPr>
          <a:xfrm>
            <a:off x="396131" y="1381841"/>
            <a:ext cx="11243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• Maintenance daily before use your engine.</a:t>
            </a:r>
            <a:endParaRPr sz="18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464" name="Google Shape;464;p26"/>
          <p:cNvGrpSpPr/>
          <p:nvPr/>
        </p:nvGrpSpPr>
        <p:grpSpPr>
          <a:xfrm>
            <a:off x="3013322" y="5109843"/>
            <a:ext cx="6178423" cy="366316"/>
            <a:chOff x="3370165" y="4800598"/>
            <a:chExt cx="7148190" cy="423813"/>
          </a:xfrm>
        </p:grpSpPr>
        <p:sp>
          <p:nvSpPr>
            <p:cNvPr id="465" name="Google Shape;465;p26"/>
            <p:cNvSpPr/>
            <p:nvPr/>
          </p:nvSpPr>
          <p:spPr>
            <a:xfrm>
              <a:off x="3370165" y="4800600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6"/>
            <p:cNvSpPr/>
            <p:nvPr/>
          </p:nvSpPr>
          <p:spPr>
            <a:xfrm>
              <a:off x="6721533" y="4800599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6"/>
            <p:cNvSpPr/>
            <p:nvPr/>
          </p:nvSpPr>
          <p:spPr>
            <a:xfrm>
              <a:off x="10057785" y="4800598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8" name="Google Shape;468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8061" y="4463252"/>
            <a:ext cx="2426059" cy="1617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4430" y="4462855"/>
            <a:ext cx="2427252" cy="1618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6811" y="4463665"/>
            <a:ext cx="2425849" cy="1616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25265" y="4463300"/>
            <a:ext cx="2428851" cy="161727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6"/>
          <p:cNvSpPr txBox="1"/>
          <p:nvPr/>
        </p:nvSpPr>
        <p:spPr>
          <a:xfrm>
            <a:off x="396131" y="2288663"/>
            <a:ext cx="1186136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1) Clean the pot and air filter every 100 hours or every month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2) Loosen the nut and remove the pot cover then pull out the air filter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3) Remove the air filter by loosening the No.10 nut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4) Clean the air filter by using diesel and gently tap to remove the dirt then use the blower to make it dry.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5) For the air filter pot can be cleaned by diesel or water mixed with detergent then make it dry before assemble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6) Before assembling, Fill up TRA CHANG engine oil to the specified limit then tighten the No.10 nut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7) Reassemble the air filter and filter pot cover then tighten the nut.</a:t>
            </a:r>
            <a:endParaRPr/>
          </a:p>
        </p:txBody>
      </p:sp>
      <p:sp>
        <p:nvSpPr>
          <p:cNvPr id="473" name="Google Shape;473;p26"/>
          <p:cNvSpPr txBox="1"/>
          <p:nvPr/>
        </p:nvSpPr>
        <p:spPr>
          <a:xfrm>
            <a:off x="396131" y="1863907"/>
            <a:ext cx="35280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Kanit"/>
              <a:buNone/>
            </a:pPr>
            <a:r>
              <a:rPr lang="en-US" sz="2800" b="1" i="0" u="none" strike="noStrike" cap="none">
                <a:solidFill>
                  <a:srgbClr val="0070C0"/>
                </a:solidFill>
                <a:latin typeface="Kanit"/>
                <a:ea typeface="Kanit"/>
                <a:cs typeface="Kanit"/>
                <a:sym typeface="Kanit"/>
              </a:rPr>
              <a:t>Process :</a:t>
            </a:r>
            <a:endParaRPr sz="2800" b="1" i="0" u="none" strike="noStrike" cap="none">
              <a:solidFill>
                <a:srgbClr val="0070C0"/>
              </a:solidFill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7"/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Kanit"/>
              <a:buNone/>
            </a:pPr>
            <a:r>
              <a:rPr lang="en-US" sz="32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r>
              <a:rPr lang="en-US" sz="32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. Maintenance the fuel system</a:t>
            </a:r>
            <a:endParaRPr sz="3200" b="0" i="0" u="none" strike="noStrike" cap="none">
              <a:solidFill>
                <a:srgbClr val="00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479" name="Google Shape;479;p27"/>
          <p:cNvSpPr txBox="1"/>
          <p:nvPr/>
        </p:nvSpPr>
        <p:spPr>
          <a:xfrm>
            <a:off x="330640" y="1335662"/>
            <a:ext cx="11243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nit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•</a:t>
            </a:r>
            <a:r>
              <a:rPr lang="en-US" sz="18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Maintenance every time before use your engine.</a:t>
            </a:r>
            <a:endParaRPr sz="1800" b="0" i="0" u="none" strike="noStrike" cap="none">
              <a:solidFill>
                <a:srgbClr val="00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480" name="Google Shape;480;p27"/>
          <p:cNvGrpSpPr/>
          <p:nvPr/>
        </p:nvGrpSpPr>
        <p:grpSpPr>
          <a:xfrm>
            <a:off x="3013322" y="5580106"/>
            <a:ext cx="6178423" cy="366316"/>
            <a:chOff x="3370165" y="4800598"/>
            <a:chExt cx="7148190" cy="423813"/>
          </a:xfrm>
        </p:grpSpPr>
        <p:sp>
          <p:nvSpPr>
            <p:cNvPr id="481" name="Google Shape;481;p27"/>
            <p:cNvSpPr/>
            <p:nvPr/>
          </p:nvSpPr>
          <p:spPr>
            <a:xfrm>
              <a:off x="3370165" y="4800600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7"/>
            <p:cNvSpPr/>
            <p:nvPr/>
          </p:nvSpPr>
          <p:spPr>
            <a:xfrm>
              <a:off x="6721533" y="4800599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7"/>
            <p:cNvSpPr/>
            <p:nvPr/>
          </p:nvSpPr>
          <p:spPr>
            <a:xfrm>
              <a:off x="10057785" y="4800598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4" name="Google Shape;484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8061" y="4933515"/>
            <a:ext cx="2426059" cy="1617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4929" y="4933118"/>
            <a:ext cx="2426254" cy="1618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6811" y="4934047"/>
            <a:ext cx="2425849" cy="1616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27294" y="4933563"/>
            <a:ext cx="2424792" cy="1617278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7"/>
          <p:cNvSpPr txBox="1"/>
          <p:nvPr/>
        </p:nvSpPr>
        <p:spPr>
          <a:xfrm>
            <a:off x="396131" y="1654357"/>
            <a:ext cx="35280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Kanit"/>
              <a:buNone/>
            </a:pPr>
            <a:r>
              <a:rPr lang="en-US" sz="2800" b="1" i="0" u="none" strike="noStrike" cap="none">
                <a:solidFill>
                  <a:srgbClr val="0070C0"/>
                </a:solidFill>
                <a:latin typeface="Kanit"/>
                <a:ea typeface="Kanit"/>
                <a:cs typeface="Kanit"/>
                <a:sym typeface="Kanit"/>
              </a:rPr>
              <a:t>Process :</a:t>
            </a:r>
            <a:endParaRPr sz="2800" b="1" i="0" u="none" strike="noStrike" cap="none">
              <a:solidFill>
                <a:srgbClr val="0070C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489" name="Google Shape;489;p27"/>
          <p:cNvSpPr txBox="1"/>
          <p:nvPr/>
        </p:nvSpPr>
        <p:spPr>
          <a:xfrm>
            <a:off x="396131" y="2076562"/>
            <a:ext cx="11961189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nit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1) Clean the fuel filter every 100 hours or every month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nit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2) If there is dirt or water in the oil, clean immediately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nit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3) Change fuel filter every 400 hours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nit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4) Remove the nut of the fuel filter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nit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5) Turn the fuel filter cup out. Then use pliers to pull the fuel filter apart.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nit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6) Clean the filter cup and fuel filter. by tapping or using a brush then make it dry by blower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nit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7) If the filter is clogged or torn change immediately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nit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8) Assemble the fuel filter to the filter cup.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nit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9) Be sure to put an op-ring on the top of the filter.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nit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10) Assemble the fuel filter cup back firmly and tighten the nut No.10 to lock the fuel filter tightly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8"/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Kanit"/>
              <a:buNone/>
            </a:pPr>
            <a:r>
              <a:rPr lang="en-US" sz="32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r>
              <a:rPr lang="en-US" sz="32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. Maintenance the engine oil</a:t>
            </a:r>
            <a:endParaRPr sz="3200" b="0" i="0" u="none" strike="noStrike" cap="none">
              <a:solidFill>
                <a:srgbClr val="00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495" name="Google Shape;495;p28"/>
          <p:cNvSpPr txBox="1"/>
          <p:nvPr/>
        </p:nvSpPr>
        <p:spPr>
          <a:xfrm>
            <a:off x="288436" y="1335662"/>
            <a:ext cx="1124360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For new engine, please change the engine oil after used for the first 50 hours.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After that change the engine oil every 100 hours.</a:t>
            </a:r>
            <a:endParaRPr/>
          </a:p>
        </p:txBody>
      </p:sp>
      <p:sp>
        <p:nvSpPr>
          <p:cNvPr id="496" name="Google Shape;496;p28"/>
          <p:cNvSpPr txBox="1"/>
          <p:nvPr/>
        </p:nvSpPr>
        <p:spPr>
          <a:xfrm>
            <a:off x="288435" y="2545131"/>
            <a:ext cx="1150743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Remove the oil drain plug and let the engine oil drain completely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Clean the engine oil filter by diesel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Put the oil drain plug and tighten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Fill up the TRA CHANG engine oil (SAE40 API CF)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The engine oil level must not be higher than the upper scale and not lower than the lower scale.</a:t>
            </a:r>
            <a:endParaRPr/>
          </a:p>
        </p:txBody>
      </p:sp>
      <p:sp>
        <p:nvSpPr>
          <p:cNvPr id="497" name="Google Shape;497;p28"/>
          <p:cNvSpPr txBox="1"/>
          <p:nvPr/>
        </p:nvSpPr>
        <p:spPr>
          <a:xfrm>
            <a:off x="396131" y="2140132"/>
            <a:ext cx="35280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Kanit"/>
              <a:buNone/>
            </a:pPr>
            <a:r>
              <a:rPr lang="en-US" sz="2800" b="1" i="0" u="none" strike="noStrike" cap="none">
                <a:solidFill>
                  <a:srgbClr val="0070C0"/>
                </a:solidFill>
                <a:latin typeface="Kanit"/>
                <a:ea typeface="Kanit"/>
                <a:cs typeface="Kanit"/>
                <a:sym typeface="Kanit"/>
              </a:rPr>
              <a:t>Process :</a:t>
            </a:r>
            <a:endParaRPr sz="2800" b="1" i="0" u="none" strike="noStrike" cap="none">
              <a:solidFill>
                <a:srgbClr val="0070C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498" name="Google Shape;498;p28"/>
          <p:cNvGrpSpPr/>
          <p:nvPr/>
        </p:nvGrpSpPr>
        <p:grpSpPr>
          <a:xfrm>
            <a:off x="3126723" y="5074229"/>
            <a:ext cx="6178423" cy="366316"/>
            <a:chOff x="3370165" y="4800598"/>
            <a:chExt cx="7148190" cy="423813"/>
          </a:xfrm>
        </p:grpSpPr>
        <p:sp>
          <p:nvSpPr>
            <p:cNvPr id="499" name="Google Shape;499;p28"/>
            <p:cNvSpPr/>
            <p:nvPr/>
          </p:nvSpPr>
          <p:spPr>
            <a:xfrm>
              <a:off x="3370165" y="4800600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6721533" y="4800599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8"/>
            <p:cNvSpPr/>
            <p:nvPr/>
          </p:nvSpPr>
          <p:spPr>
            <a:xfrm>
              <a:off x="10057785" y="4800598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02" name="Google Shape;50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61" y="4427007"/>
            <a:ext cx="2429061" cy="1618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47080" y="4427007"/>
            <a:ext cx="2428754" cy="1618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9087" y="4427458"/>
            <a:ext cx="2428100" cy="161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2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54920" y="4427985"/>
            <a:ext cx="1077119" cy="1615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2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77801" y="4426457"/>
            <a:ext cx="1077119" cy="1618734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8"/>
          <p:cNvSpPr/>
          <p:nvPr/>
        </p:nvSpPr>
        <p:spPr>
          <a:xfrm>
            <a:off x="10319071" y="5111557"/>
            <a:ext cx="271698" cy="25001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9"/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Kanit"/>
              <a:buNone/>
            </a:pPr>
            <a:r>
              <a:rPr lang="en-US" sz="32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4</a:t>
            </a:r>
            <a:r>
              <a:rPr lang="en-US" sz="32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. Maintenance the cooling water system</a:t>
            </a:r>
            <a:endParaRPr sz="3200" b="0" i="0" u="none" strike="noStrike" cap="none">
              <a:solidFill>
                <a:srgbClr val="00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13" name="Google Shape;513;p29"/>
          <p:cNvSpPr txBox="1"/>
          <p:nvPr/>
        </p:nvSpPr>
        <p:spPr>
          <a:xfrm>
            <a:off x="330640" y="1335662"/>
            <a:ext cx="115275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nit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• Drain the water in the radiator every 3 months in case of adding rust proof powder</a:t>
            </a:r>
            <a:endParaRPr sz="1800" b="0" i="0" u="none" strike="noStrike" cap="none">
              <a:solidFill>
                <a:srgbClr val="000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nit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• every month in case of don't add rust proof powder</a:t>
            </a:r>
            <a:endParaRPr sz="1800" b="0" i="0" u="none" strike="noStrike" cap="none">
              <a:solidFill>
                <a:srgbClr val="00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14" name="Google Shape;514;p29"/>
          <p:cNvSpPr txBox="1"/>
          <p:nvPr/>
        </p:nvSpPr>
        <p:spPr>
          <a:xfrm>
            <a:off x="508000" y="6133349"/>
            <a:ext cx="1117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Do not use groundwater or canal water because it will cause the radiator to have sediment and cause the radiator to clog </a:t>
            </a:r>
            <a:endParaRPr sz="1400">
              <a:solidFill>
                <a:srgbClr val="00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15" name="Google Shape;515;p29"/>
          <p:cNvSpPr/>
          <p:nvPr/>
        </p:nvSpPr>
        <p:spPr>
          <a:xfrm>
            <a:off x="332235" y="5950157"/>
            <a:ext cx="11527531" cy="704939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6" name="Google Shape;516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000" y="5457623"/>
            <a:ext cx="709892" cy="704939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29"/>
          <p:cNvSpPr txBox="1"/>
          <p:nvPr/>
        </p:nvSpPr>
        <p:spPr>
          <a:xfrm>
            <a:off x="1217892" y="5540972"/>
            <a:ext cx="14688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Caution</a:t>
            </a:r>
            <a:endParaRPr sz="2400">
              <a:solidFill>
                <a:srgbClr val="00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518" name="Google Shape;518;p29"/>
          <p:cNvGrpSpPr/>
          <p:nvPr/>
        </p:nvGrpSpPr>
        <p:grpSpPr>
          <a:xfrm>
            <a:off x="3013322" y="4444172"/>
            <a:ext cx="6178423" cy="366316"/>
            <a:chOff x="3370165" y="4800598"/>
            <a:chExt cx="7148190" cy="423813"/>
          </a:xfrm>
        </p:grpSpPr>
        <p:sp>
          <p:nvSpPr>
            <p:cNvPr id="519" name="Google Shape;519;p29"/>
            <p:cNvSpPr/>
            <p:nvPr/>
          </p:nvSpPr>
          <p:spPr>
            <a:xfrm>
              <a:off x="3370165" y="4800600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6721533" y="4800599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10057785" y="4800598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22" name="Google Shape;522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8061" y="3797874"/>
            <a:ext cx="2426059" cy="1616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4894" y="3797184"/>
            <a:ext cx="2426323" cy="1618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2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27325" y="3797994"/>
            <a:ext cx="2424820" cy="1616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2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25483" y="3797629"/>
            <a:ext cx="2428415" cy="1617278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9"/>
          <p:cNvSpPr txBox="1"/>
          <p:nvPr/>
        </p:nvSpPr>
        <p:spPr>
          <a:xfrm>
            <a:off x="363931" y="2587848"/>
            <a:ext cx="11320069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While draining the water, it is recommended to open the radiator cap to make the water drained faster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Remove the drain plug and let the water drain out completely, Then tighten the drain plug.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Add 1 bag of rust proof powder and fill the clean water.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Tighten the cap.</a:t>
            </a:r>
            <a:endParaRPr/>
          </a:p>
        </p:txBody>
      </p:sp>
      <p:sp>
        <p:nvSpPr>
          <p:cNvPr id="527" name="Google Shape;527;p29"/>
          <p:cNvSpPr txBox="1"/>
          <p:nvPr/>
        </p:nvSpPr>
        <p:spPr>
          <a:xfrm>
            <a:off x="396131" y="2140132"/>
            <a:ext cx="35280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Kanit"/>
              <a:buNone/>
            </a:pPr>
            <a:r>
              <a:rPr lang="en-US" sz="2800" b="1" i="0" u="none" strike="noStrike" cap="none">
                <a:solidFill>
                  <a:srgbClr val="0070C0"/>
                </a:solidFill>
                <a:latin typeface="Kanit"/>
                <a:ea typeface="Kanit"/>
                <a:cs typeface="Kanit"/>
                <a:sym typeface="Kanit"/>
              </a:rPr>
              <a:t>Process :</a:t>
            </a:r>
            <a:endParaRPr sz="2800" b="1" i="0" u="none" strike="noStrike" cap="none">
              <a:solidFill>
                <a:srgbClr val="0070C0"/>
              </a:solidFill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0"/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Kanit"/>
              <a:buNone/>
            </a:pPr>
            <a:r>
              <a:rPr lang="en-US" sz="32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5</a:t>
            </a:r>
            <a:r>
              <a:rPr lang="en-US" sz="32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. Maintenance the fan belt</a:t>
            </a:r>
            <a:endParaRPr sz="3200" b="0" i="0" u="none" strike="noStrike" cap="none">
              <a:solidFill>
                <a:srgbClr val="00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33" name="Google Shape;533;p30"/>
          <p:cNvSpPr txBox="1"/>
          <p:nvPr/>
        </p:nvSpPr>
        <p:spPr>
          <a:xfrm>
            <a:off x="330640" y="1335662"/>
            <a:ext cx="112436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nit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• Check before use every time</a:t>
            </a:r>
            <a:endParaRPr/>
          </a:p>
        </p:txBody>
      </p:sp>
      <p:sp>
        <p:nvSpPr>
          <p:cNvPr id="534" name="Google Shape;534;p30"/>
          <p:cNvSpPr txBox="1"/>
          <p:nvPr/>
        </p:nvSpPr>
        <p:spPr>
          <a:xfrm>
            <a:off x="721170" y="6216756"/>
            <a:ext cx="101322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* if the belt breaks during use This will cause the engine to heat up and cause overheating.</a:t>
            </a:r>
            <a:endParaRPr/>
          </a:p>
        </p:txBody>
      </p:sp>
      <p:sp>
        <p:nvSpPr>
          <p:cNvPr id="535" name="Google Shape;535;p30"/>
          <p:cNvSpPr/>
          <p:nvPr/>
        </p:nvSpPr>
        <p:spPr>
          <a:xfrm>
            <a:off x="332235" y="5950157"/>
            <a:ext cx="11527531" cy="704939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6" name="Google Shape;536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000" y="5457623"/>
            <a:ext cx="709892" cy="704939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0"/>
          <p:cNvSpPr txBox="1"/>
          <p:nvPr/>
        </p:nvSpPr>
        <p:spPr>
          <a:xfrm>
            <a:off x="1217892" y="5540972"/>
            <a:ext cx="14688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Caution</a:t>
            </a:r>
            <a:endParaRPr sz="2400">
              <a:solidFill>
                <a:srgbClr val="00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538" name="Google Shape;538;p30"/>
          <p:cNvGrpSpPr/>
          <p:nvPr/>
        </p:nvGrpSpPr>
        <p:grpSpPr>
          <a:xfrm>
            <a:off x="3013322" y="3868766"/>
            <a:ext cx="6178423" cy="366316"/>
            <a:chOff x="3370165" y="4800598"/>
            <a:chExt cx="7148190" cy="423813"/>
          </a:xfrm>
        </p:grpSpPr>
        <p:sp>
          <p:nvSpPr>
            <p:cNvPr id="539" name="Google Shape;539;p30"/>
            <p:cNvSpPr/>
            <p:nvPr/>
          </p:nvSpPr>
          <p:spPr>
            <a:xfrm>
              <a:off x="3370165" y="4800600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6721533" y="4800599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10057785" y="4800598"/>
              <a:ext cx="460570" cy="42381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42" name="Google Shape;542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8061" y="3223174"/>
            <a:ext cx="2426059" cy="161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4430" y="3222278"/>
            <a:ext cx="2427252" cy="1617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3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27700" y="3222588"/>
            <a:ext cx="2424071" cy="1616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26357" y="3222223"/>
            <a:ext cx="2426666" cy="1617278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0"/>
          <p:cNvSpPr txBox="1"/>
          <p:nvPr/>
        </p:nvSpPr>
        <p:spPr>
          <a:xfrm>
            <a:off x="330640" y="1743415"/>
            <a:ext cx="35280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Kanit"/>
              <a:buNone/>
            </a:pPr>
            <a:r>
              <a:rPr lang="en-US" sz="2800" b="1" i="0" u="none" strike="noStrike" cap="none">
                <a:solidFill>
                  <a:srgbClr val="0070C0"/>
                </a:solidFill>
                <a:latin typeface="Kanit"/>
                <a:ea typeface="Kanit"/>
                <a:cs typeface="Kanit"/>
                <a:sym typeface="Kanit"/>
              </a:rPr>
              <a:t>Process :</a:t>
            </a:r>
            <a:endParaRPr sz="2800" b="1" i="0" u="none" strike="noStrike" cap="none">
              <a:solidFill>
                <a:srgbClr val="0070C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47" name="Google Shape;547;p30"/>
          <p:cNvSpPr txBox="1"/>
          <p:nvPr/>
        </p:nvSpPr>
        <p:spPr>
          <a:xfrm>
            <a:off x="330640" y="2173142"/>
            <a:ext cx="914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The appropriate tension is 10 mm.-15 mm.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If the belt is cracked or torn, replace it immediately.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Juliet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608</Words>
  <Application>Microsoft Office PowerPoint</Application>
  <PresentationFormat>Widescreen</PresentationFormat>
  <Paragraphs>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Montserrat ExtraBold</vt:lpstr>
      <vt:lpstr>Kanit</vt:lpstr>
      <vt:lpstr>Calibri</vt:lpstr>
      <vt:lpstr>Montserrat Light</vt:lpstr>
      <vt:lpstr>Arial</vt:lpstr>
      <vt:lpstr>Juliet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Thanawat Jedsadapattanakiat</dc:creator>
  <cp:lastModifiedBy>Nuanphan Ngamkitwanit (Ngamkitwanit Nuanphan)</cp:lastModifiedBy>
  <cp:revision>3</cp:revision>
  <dcterms:created xsi:type="dcterms:W3CDTF">2022-02-15T03:21:56Z</dcterms:created>
  <dcterms:modified xsi:type="dcterms:W3CDTF">2026-08-13T06:52:22Z</dcterms:modified>
</cp:coreProperties>
</file>