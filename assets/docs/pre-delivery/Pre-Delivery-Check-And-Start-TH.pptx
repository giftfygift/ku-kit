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1"/>
  </p:notesMasterIdLst>
  <p:sldIdLst>
    <p:sldId id="292" r:id="rId2"/>
    <p:sldId id="293" r:id="rId3"/>
    <p:sldId id="294" r:id="rId4"/>
    <p:sldId id="295" r:id="rId5"/>
    <p:sldId id="296" r:id="rId6"/>
    <p:sldId id="297" r:id="rId7"/>
    <p:sldId id="299" r:id="rId8"/>
    <p:sldId id="300" r:id="rId9"/>
    <p:sldId id="301" r:id="rId10"/>
  </p:sldIdLst>
  <p:sldSz cx="12192000" cy="6858000"/>
  <p:notesSz cx="6858000" cy="9144000"/>
  <p:embeddedFontLst>
    <p:embeddedFont>
      <p:font typeface="Kanit" pitchFamily="2" charset="-34"/>
      <p:regular r:id="rId12"/>
      <p:bold r:id="rId13"/>
      <p:italic r:id="rId14"/>
      <p:boldItalic r:id="rId15"/>
    </p:embeddedFont>
    <p:embeddedFont>
      <p:font typeface="Montserrat ExtraBold" panose="00000900000000000000" pitchFamily="2" charset="0"/>
      <p:bold r:id="rId16"/>
      <p:boldItalic r:id="rId17"/>
    </p:embeddedFont>
    <p:embeddedFont>
      <p:font typeface="Montserrat Light" panose="00000400000000000000" pitchFamily="2" charset="0"/>
      <p:regular r:id="rId18"/>
      <p:italic r:id="rId19"/>
    </p:embeddedFont>
  </p:embeddedFontLst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09" autoAdjust="0"/>
    <p:restoredTop sz="94660"/>
  </p:normalViewPr>
  <p:slideViewPr>
    <p:cSldViewPr snapToGrid="0">
      <p:cViewPr varScale="1">
        <p:scale>
          <a:sx n="71" d="100"/>
          <a:sy n="71" d="100"/>
        </p:scale>
        <p:origin x="47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1941A6-C192-48FC-8212-4338DEE8A003}" type="datetimeFigureOut">
              <a:rPr lang="th-TH" smtClean="0"/>
              <a:t>13/08/69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1C4A2A-9876-4D84-95C2-038AD347E478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5106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88486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1058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65236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3987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6545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245574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161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07972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06f1c2d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06f1c2d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485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34"/>
            <a:ext cx="12192000" cy="685803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069400" y="1630935"/>
            <a:ext cx="6053200" cy="35960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85611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5125767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2"/>
          </p:nvPr>
        </p:nvSpPr>
        <p:spPr>
          <a:xfrm>
            <a:off x="8582165" y="1073767"/>
            <a:ext cx="3000400" cy="4720800"/>
          </a:xfrm>
          <a:prstGeom prst="rect">
            <a:avLst/>
          </a:prstGeom>
        </p:spPr>
        <p:txBody>
          <a:bodyPr spcFirstLastPara="1" wrap="square" lIns="0" tIns="0" rIns="0" bIns="0" anchor="ctr" anchorCtr="0"/>
          <a:lstStyle>
            <a:lvl1pPr marL="609579" lvl="0" indent="-457183">
              <a:spcBef>
                <a:spcPts val="800"/>
              </a:spcBef>
              <a:spcAft>
                <a:spcPts val="0"/>
              </a:spcAft>
              <a:buSzPts val="1800"/>
              <a:buChar char="◦"/>
              <a:defRPr sz="2400"/>
            </a:lvl1pPr>
            <a:lvl2pPr marL="1219158" lvl="1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2pPr>
            <a:lvl3pPr marL="1828737" lvl="2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3pPr>
            <a:lvl4pPr marL="2438315" lvl="3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4pPr>
            <a:lvl5pPr marL="3047894" lvl="4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5pPr>
            <a:lvl6pPr marL="3657473" lvl="5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6pPr>
            <a:lvl7pPr marL="4267051" lvl="6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7pPr>
            <a:lvl8pPr marL="4876629" lvl="7" indent="-457183">
              <a:spcBef>
                <a:spcPts val="1333"/>
              </a:spcBef>
              <a:spcAft>
                <a:spcPts val="0"/>
              </a:spcAft>
              <a:buSzPts val="1800"/>
              <a:buChar char="◦"/>
              <a:defRPr sz="2400"/>
            </a:lvl8pPr>
            <a:lvl9pPr marL="5486208" lvl="8" indent="-457183">
              <a:spcBef>
                <a:spcPts val="1333"/>
              </a:spcBef>
              <a:spcAft>
                <a:spcPts val="1333"/>
              </a:spcAft>
              <a:buSzPts val="1800"/>
              <a:buChar char="◦"/>
              <a:defRPr sz="24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510387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3C78D8"/>
            </a:gs>
            <a:gs pos="100000">
              <a:srgbClr val="00FFFF"/>
            </a:gs>
          </a:gsLst>
          <a:lin ang="5400012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32000" y="1215600"/>
            <a:ext cx="2694400" cy="4436800"/>
          </a:xfrm>
          <a:prstGeom prst="rect">
            <a:avLst/>
          </a:prstGeom>
          <a:noFill/>
          <a:ln>
            <a:noFill/>
          </a:ln>
          <a:effectLst>
            <a:outerShdw blurRad="42863" dist="9525" dir="54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0" tIns="0" rIns="0" bIns="0" anchor="ctr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Montserrat ExtraBold"/>
              <a:buNone/>
              <a:defRPr sz="26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5125767" y="1073768"/>
            <a:ext cx="6456800" cy="47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/>
          <a:lstStyle>
            <a:lvl1pPr marL="457200" lvl="0" indent="-3683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marL="914400" lvl="1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marL="1371600" lvl="2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marL="1828800" lvl="3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marL="2286000" lvl="4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marL="2743200" lvl="5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marL="3200400" lvl="6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marL="3657600" lvl="7" indent="-3683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marL="4114800" lvl="8" indent="-3683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B7B7B7"/>
              </a:buClr>
              <a:buSzPts val="2200"/>
              <a:buFont typeface="Montserrat Light"/>
              <a:buChar char="◦"/>
              <a:defRPr sz="2200">
                <a:solidFill>
                  <a:srgbClr val="666666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07445" y="6333135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1pPr>
            <a:lvl2pPr lvl="1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2pPr>
            <a:lvl3pPr lvl="2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3pPr>
            <a:lvl4pPr lvl="3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4pPr>
            <a:lvl5pPr lvl="4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5pPr>
            <a:lvl6pPr lvl="5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6pPr>
            <a:lvl7pPr lvl="6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7pPr>
            <a:lvl8pPr lvl="7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8pPr>
            <a:lvl9pPr lvl="8" algn="r">
              <a:buNone/>
              <a:defRPr sz="1600">
                <a:solidFill>
                  <a:srgbClr val="B7B7B7"/>
                </a:solidFill>
                <a:latin typeface="Montserrat Light"/>
                <a:ea typeface="Montserrat Light"/>
                <a:cs typeface="Montserrat Light"/>
                <a:sym typeface="Montserrat Light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7772864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1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8.jp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8.jpg"/><Relationship Id="rId7" Type="http://schemas.openxmlformats.org/officeDocument/2006/relationships/image" Target="../media/image27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jpeg"/><Relationship Id="rId5" Type="http://schemas.openxmlformats.org/officeDocument/2006/relationships/image" Target="../media/image25.jpeg"/><Relationship Id="rId4" Type="http://schemas.openxmlformats.org/officeDocument/2006/relationships/image" Target="../media/image2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../media/image3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jpeg"/><Relationship Id="rId3" Type="http://schemas.openxmlformats.org/officeDocument/2006/relationships/image" Target="../media/image8.jpg"/><Relationship Id="rId7" Type="http://schemas.openxmlformats.org/officeDocument/2006/relationships/image" Target="../media/image3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jpeg"/><Relationship Id="rId11" Type="http://schemas.openxmlformats.org/officeDocument/2006/relationships/image" Target="../media/image40.jpeg"/><Relationship Id="rId5" Type="http://schemas.openxmlformats.org/officeDocument/2006/relationships/image" Target="../media/image34.png"/><Relationship Id="rId10" Type="http://schemas.openxmlformats.org/officeDocument/2006/relationships/image" Target="../media/image39.jpeg"/><Relationship Id="rId4" Type="http://schemas.openxmlformats.org/officeDocument/2006/relationships/image" Target="../media/image33.png"/><Relationship Id="rId9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406782" y="1933741"/>
            <a:ext cx="74980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ขั้นตอนการตรวจเช็กก่อนเริ่มใช้งาน</a:t>
            </a: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654EBA-AC43-4FF3-A371-F538B8F0EE6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205" y="2716072"/>
            <a:ext cx="3005797" cy="515256"/>
          </a:xfrm>
          <a:prstGeom prst="rect">
            <a:avLst/>
          </a:prstGeom>
        </p:spPr>
      </p:pic>
      <p:pic>
        <p:nvPicPr>
          <p:cNvPr id="6" name="Picture 5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9E0B095C-03C7-4E12-A5AA-6E19F047A04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411" y="3135127"/>
            <a:ext cx="4545386" cy="3788579"/>
          </a:xfrm>
          <a:prstGeom prst="rect">
            <a:avLst/>
          </a:prstGeom>
        </p:spPr>
      </p:pic>
      <p:pic>
        <p:nvPicPr>
          <p:cNvPr id="10" name="Picture 9" descr="A picture containing orange, watch&#10;&#10;Description automatically generated">
            <a:extLst>
              <a:ext uri="{FF2B5EF4-FFF2-40B4-BE49-F238E27FC236}">
                <a16:creationId xmlns:a16="http://schemas.microsoft.com/office/drawing/2014/main" id="{558D9BC8-C8EB-40D4-9671-6AB5B87FD8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635" y="2846174"/>
            <a:ext cx="3691589" cy="3076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C136C0-CE7B-4367-BE06-50486009E895}"/>
              </a:ext>
            </a:extLst>
          </p:cNvPr>
          <p:cNvSpPr txBox="1"/>
          <p:nvPr/>
        </p:nvSpPr>
        <p:spPr>
          <a:xfrm>
            <a:off x="519326" y="2639592"/>
            <a:ext cx="48908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เครื่องยนต์ดีเซลคูโบต้า</a:t>
            </a:r>
            <a:endParaRPr kumimoji="0" lang="th-TH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00DFD8-ED78-46B8-BF4E-08787B654180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297909" y="1819253"/>
            <a:ext cx="2120380" cy="152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8205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จุดที่ต</a:t>
            </a:r>
            <a:r>
              <a:rPr lang="th-TH" dirty="0">
                <a:solidFill>
                  <a:srgbClr val="000000"/>
                </a:solidFill>
              </a:rPr>
              <a:t>้องเช็กก่อนเริ่มใช้งานเครื่องยนต์ดีเซลคูโบต้า 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51" name="Picture 50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52C47D0A-3CB1-4AAE-853B-3DD4DB0CD4F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8230" y="330364"/>
            <a:ext cx="3163130" cy="542226"/>
          </a:xfrm>
          <a:prstGeom prst="rect">
            <a:avLst/>
          </a:prstGeom>
        </p:spPr>
      </p:pic>
      <p:pic>
        <p:nvPicPr>
          <p:cNvPr id="27" name="Picture 26" descr="An orange and white machine&#10;&#10;Description automatically generated with low confidence">
            <a:extLst>
              <a:ext uri="{FF2B5EF4-FFF2-40B4-BE49-F238E27FC236}">
                <a16:creationId xmlns:a16="http://schemas.microsoft.com/office/drawing/2014/main" id="{71013FE2-14C7-4684-96D5-05271ECBBEC5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5" t="15284" r="12593" b="9180"/>
          <a:stretch/>
        </p:blipFill>
        <p:spPr>
          <a:xfrm>
            <a:off x="163434" y="2542770"/>
            <a:ext cx="4049392" cy="337414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0606B20-F8C3-4C2C-AB6C-8EFB47DD6100}"/>
              </a:ext>
            </a:extLst>
          </p:cNvPr>
          <p:cNvSpPr txBox="1"/>
          <p:nvPr/>
        </p:nvSpPr>
        <p:spPr>
          <a:xfrm>
            <a:off x="4456232" y="1443943"/>
            <a:ext cx="41926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6000" b="1" dirty="0">
                <a:ln w="12700" cmpd="sng">
                  <a:noFill/>
                  <a:prstDash val="solid"/>
                </a:ln>
                <a:solidFill>
                  <a:srgbClr val="0070C0"/>
                </a:solidFill>
                <a:latin typeface="Kanit" pitchFamily="2" charset="-34"/>
                <a:ea typeface="Roboto Light"/>
                <a:cs typeface="Kanit" pitchFamily="2" charset="-34"/>
              </a:rPr>
              <a:t>5 </a:t>
            </a:r>
            <a:r>
              <a:rPr lang="th-TH" sz="6000" b="1" dirty="0">
                <a:ln w="12700" cmpd="sng">
                  <a:noFill/>
                  <a:prstDash val="solid"/>
                </a:ln>
                <a:solidFill>
                  <a:srgbClr val="0070C0"/>
                </a:solidFill>
                <a:latin typeface="Kanit" pitchFamily="2" charset="-34"/>
                <a:ea typeface="Roboto Light"/>
                <a:cs typeface="Kanit" pitchFamily="2" charset="-34"/>
              </a:rPr>
              <a:t>จุดสำคัญ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0729FE-3821-4E24-818A-40A79B001CE7}"/>
              </a:ext>
            </a:extLst>
          </p:cNvPr>
          <p:cNvSpPr txBox="1"/>
          <p:nvPr/>
        </p:nvSpPr>
        <p:spPr>
          <a:xfrm>
            <a:off x="4494332" y="2512307"/>
            <a:ext cx="5361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1)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ระบบกรองอากาศ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C35166-D67A-41F5-BE5B-7627841D3C77}"/>
              </a:ext>
            </a:extLst>
          </p:cNvPr>
          <p:cNvSpPr txBox="1"/>
          <p:nvPr/>
        </p:nvSpPr>
        <p:spPr>
          <a:xfrm>
            <a:off x="4418132" y="3294337"/>
            <a:ext cx="53612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ระบบน้ำมันเชื้อเพลิง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DEB244-9822-41D6-A1F5-B8F9BC2E561F}"/>
              </a:ext>
            </a:extLst>
          </p:cNvPr>
          <p:cNvSpPr txBox="1"/>
          <p:nvPr/>
        </p:nvSpPr>
        <p:spPr>
          <a:xfrm>
            <a:off x="4437182" y="4076367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3)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ระบบหล่อลื่น(น้ำมันเครื่อง)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B8A253-E818-40D3-A77C-B245E5C501B0}"/>
              </a:ext>
            </a:extLst>
          </p:cNvPr>
          <p:cNvSpPr txBox="1"/>
          <p:nvPr/>
        </p:nvSpPr>
        <p:spPr>
          <a:xfrm>
            <a:off x="4437182" y="4858397"/>
            <a:ext cx="656839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ระบบน้ำระบายความร้อน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993C8B-2635-4B3F-9E48-0D7C0A4515DC}"/>
              </a:ext>
            </a:extLst>
          </p:cNvPr>
          <p:cNvSpPr txBox="1"/>
          <p:nvPr/>
        </p:nvSpPr>
        <p:spPr>
          <a:xfrm>
            <a:off x="4456233" y="5576695"/>
            <a:ext cx="701186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5)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ระบบสายพานพัดลมระบายความร้อน</a:t>
            </a:r>
          </a:p>
        </p:txBody>
      </p:sp>
    </p:spTree>
    <p:extLst>
      <p:ext uri="{BB962C8B-B14F-4D97-AF65-F5344CB8AC3E}">
        <p14:creationId xmlns:p14="http://schemas.microsoft.com/office/powerpoint/2010/main" val="3111425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เช็กระบบกรองอากาศ (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Air Filter)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FE84B-576F-469B-90A3-4D5D7FFE3101}"/>
              </a:ext>
            </a:extLst>
          </p:cNvPr>
          <p:cNvSpPr txBox="1"/>
          <p:nvPr/>
        </p:nvSpPr>
        <p:spPr>
          <a:xfrm>
            <a:off x="537503" y="1303023"/>
            <a:ext cx="1133562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กรองอากาศ </a:t>
            </a:r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: 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  <a:p>
            <a:r>
              <a:rPr lang="th-TH" sz="2000" dirty="0">
                <a:latin typeface="Kanit" pitchFamily="2" charset="-34"/>
                <a:cs typeface="Kanit" pitchFamily="2" charset="-34"/>
              </a:rPr>
              <a:t>ทำหน้าที่กรองและดักฝุ่นที่ปนมากับอากาศไม่ให้เข้าไปในเครื่องยนต์ เพื่อป้องกันชิ้นส่วนที่อยู่ภายในสึกหรอ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A4D5A-4F07-4063-92C1-1D121EEEE398}"/>
              </a:ext>
            </a:extLst>
          </p:cNvPr>
          <p:cNvSpPr txBox="1"/>
          <p:nvPr/>
        </p:nvSpPr>
        <p:spPr>
          <a:xfrm>
            <a:off x="537503" y="2868232"/>
            <a:ext cx="1084078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Kanit" pitchFamily="2" charset="-34"/>
                <a:cs typeface="Kanit" pitchFamily="2" charset="-34"/>
              </a:rPr>
              <a:t>1) </a:t>
            </a:r>
            <a:r>
              <a:rPr lang="th-TH" sz="1800" dirty="0">
                <a:latin typeface="Kanit" pitchFamily="2" charset="-34"/>
                <a:cs typeface="Kanit" pitchFamily="2" charset="-34"/>
              </a:rPr>
              <a:t>เติมน้ำมันเครื่องลงไปในหม้อกรอง (ใช้น้ำมันเครื่องที่เหลือจากเติมเครื่องยนต์)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2) </a:t>
            </a:r>
            <a:r>
              <a:rPr lang="th-TH" sz="1800" dirty="0">
                <a:latin typeface="Kanit" pitchFamily="2" charset="-34"/>
                <a:cs typeface="Kanit" pitchFamily="2" charset="-34"/>
              </a:rPr>
              <a:t>สังเกตจะมีเครื่องหมายบอกระดับของน้ำมันเครื่อง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3) </a:t>
            </a:r>
            <a:r>
              <a:rPr lang="th-TH" sz="1800" dirty="0">
                <a:latin typeface="Kanit" pitchFamily="2" charset="-34"/>
                <a:cs typeface="Kanit" pitchFamily="2" charset="-34"/>
              </a:rPr>
              <a:t>ใส่กรองอากาศ (ระวังอย่าให้ลูกยางขาด)</a:t>
            </a:r>
          </a:p>
          <a:p>
            <a:r>
              <a:rPr lang="en-US" sz="1800" dirty="0">
                <a:latin typeface="Kanit" pitchFamily="2" charset="-34"/>
                <a:cs typeface="Kanit" pitchFamily="2" charset="-34"/>
              </a:rPr>
              <a:t>4) </a:t>
            </a:r>
            <a:r>
              <a:rPr lang="th-TH" sz="1800" dirty="0">
                <a:latin typeface="Kanit" pitchFamily="2" charset="-34"/>
                <a:cs typeface="Kanit" pitchFamily="2" charset="-34"/>
              </a:rPr>
              <a:t>หยอดน้ำมันเครื่องลงบนกรองอากาศ เพื่อช่วยดักจับฝุ่น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AE308F-8B26-463C-A2DC-80B28A47FB12}"/>
              </a:ext>
            </a:extLst>
          </p:cNvPr>
          <p:cNvSpPr txBox="1"/>
          <p:nvPr/>
        </p:nvSpPr>
        <p:spPr>
          <a:xfrm>
            <a:off x="537503" y="2369504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ขั้นตอนการตรวจเช็ก </a:t>
            </a:r>
            <a:r>
              <a:rPr lang="en-US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:</a:t>
            </a:r>
            <a:endParaRPr lang="th-TH" b="1" dirty="0">
              <a:solidFill>
                <a:srgbClr val="0070C0"/>
              </a:solidFill>
              <a:latin typeface="Kanit" pitchFamily="2" charset="-34"/>
              <a:cs typeface="Kanit" pitchFamily="2" charset="-34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3013322" y="4953087"/>
            <a:ext cx="6178423" cy="366316"/>
            <a:chOff x="3370165" y="4800598"/>
            <a:chExt cx="7148190" cy="423813"/>
          </a:xfrm>
        </p:grpSpPr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6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8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363" y="4305816"/>
            <a:ext cx="2429456" cy="1618734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329" y="4305865"/>
            <a:ext cx="2429456" cy="161863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686" y="4305816"/>
            <a:ext cx="2428101" cy="1618734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173" y="4305816"/>
            <a:ext cx="2429036" cy="16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311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2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เช็กระบบน้ำมันเชื้อเพลิง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FE84B-576F-469B-90A3-4D5D7FFE3101}"/>
              </a:ext>
            </a:extLst>
          </p:cNvPr>
          <p:cNvSpPr txBox="1"/>
          <p:nvPr/>
        </p:nvSpPr>
        <p:spPr>
          <a:xfrm>
            <a:off x="537503" y="1303023"/>
            <a:ext cx="113356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ระบบน</a:t>
            </a:r>
            <a:r>
              <a:rPr lang="th-TH" b="1" dirty="0">
                <a:solidFill>
                  <a:srgbClr val="0070C0"/>
                </a:solidFill>
                <a:latin typeface="Kanit" pitchFamily="2" charset="-34"/>
                <a:cs typeface="Kanit" pitchFamily="2" charset="-34"/>
              </a:rPr>
              <a:t>้ำมันเชื้อเพลิง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 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เครื่องยนต์จะทำงานได้ต้องอาศัยน้ำมันเชื้อเพลิงเข้าไปผสมกับอากาศในพื้นที่จำกัด และได้ความร้อนจากการที่ลูกสูบเลื่อนขึ้นมาอัดจึงทำให้เกิดการระเบิดขึ้น เครื่องยนต์จึงสามารถทำงานได้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A4D5A-4F07-4063-92C1-1D121EEEE398}"/>
              </a:ext>
            </a:extLst>
          </p:cNvPr>
          <p:cNvSpPr txBox="1"/>
          <p:nvPr/>
        </p:nvSpPr>
        <p:spPr>
          <a:xfrm>
            <a:off x="537503" y="3042402"/>
            <a:ext cx="10840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1.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เลือกใช้น้ำมันที่สะอาด ไม่ต้องถอดไส้กรองถังออกขณะเติมน้ำมัน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2.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ตรวจเช็คการรั่วซึมรอบๆกรอง ต้องไม่มีน้ำและสิ่งสกปรกผสมอยู่ในน้ำมัน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     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AE308F-8B26-463C-A2DC-80B28A47FB12}"/>
              </a:ext>
            </a:extLst>
          </p:cNvPr>
          <p:cNvSpPr txBox="1"/>
          <p:nvPr/>
        </p:nvSpPr>
        <p:spPr>
          <a:xfrm>
            <a:off x="537503" y="2543674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ขั้นตอนการตรวจเช็ก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4465185" y="5109842"/>
            <a:ext cx="3294787" cy="366315"/>
            <a:chOff x="3370165" y="4800599"/>
            <a:chExt cx="3811938" cy="423812"/>
          </a:xfrm>
        </p:grpSpPr>
        <p:sp>
          <p:nvSpPr>
            <p:cNvPr id="15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27" name="Picture 26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8226" y="4462621"/>
            <a:ext cx="2429456" cy="1618636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5192" y="4462621"/>
            <a:ext cx="2429455" cy="161863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549" y="4463072"/>
            <a:ext cx="2428101" cy="1617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62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506" y="4795599"/>
            <a:ext cx="1077119" cy="1615678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6387" y="4794071"/>
            <a:ext cx="1077119" cy="16187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3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เช็กระบบหล่อลื่น (น้ำมันเครื่อง)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6FE84B-576F-469B-90A3-4D5D7FFE3101}"/>
              </a:ext>
            </a:extLst>
          </p:cNvPr>
          <p:cNvSpPr txBox="1"/>
          <p:nvPr/>
        </p:nvSpPr>
        <p:spPr>
          <a:xfrm>
            <a:off x="537503" y="1303023"/>
            <a:ext cx="11335629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ระบบหล่อลื่น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 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ช่วย</a:t>
            </a: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ป้องกันการสึกหรอ และช่วยให้ชิ้นส่วนต่างๆหมุนหรือเคลื่อนตัวได้ไม่ติดขัด </a:t>
            </a:r>
            <a:b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</a:br>
            <a:r>
              <a:rPr kumimoji="0" lang="th-TH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และยังเป็นตัวช่วยระบายความร้อนที่เกิดขึ้นภายในเครื่องยนต์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A4D5A-4F07-4063-92C1-1D121EEEE398}"/>
              </a:ext>
            </a:extLst>
          </p:cNvPr>
          <p:cNvSpPr txBox="1"/>
          <p:nvPr/>
        </p:nvSpPr>
        <p:spPr>
          <a:xfrm>
            <a:off x="537503" y="3042402"/>
            <a:ext cx="10840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• ใช้น้ำมันเครื่องตราช้าง เกรด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SAE40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•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เติมน้ำมันเครื่องประมาณ 2.7-2.8 ลิตร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• สังเกตระดับน้ำมันเครื่อง ต้องไม่สูงกว่าขีดบนและไม่ต่ำกว่าขีดล่าง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AE308F-8B26-463C-A2DC-80B28A47FB12}"/>
              </a:ext>
            </a:extLst>
          </p:cNvPr>
          <p:cNvSpPr txBox="1"/>
          <p:nvPr/>
        </p:nvSpPr>
        <p:spPr>
          <a:xfrm>
            <a:off x="537503" y="2543674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ขั้นตอนการตรวจเช็ก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EFE1371-4B71-4D28-B861-6F6FC208833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0168" r="42811" b="17561"/>
          <a:stretch/>
        </p:blipFill>
        <p:spPr>
          <a:xfrm>
            <a:off x="9074173" y="1451520"/>
            <a:ext cx="2534692" cy="23418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3135309" y="5441342"/>
            <a:ext cx="7464046" cy="366316"/>
            <a:chOff x="3370165" y="4800598"/>
            <a:chExt cx="8635605" cy="423813"/>
          </a:xfrm>
        </p:grpSpPr>
        <p:sp>
          <p:nvSpPr>
            <p:cNvPr id="17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5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7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23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1691426" y="4870121"/>
              <a:ext cx="314344" cy="289255"/>
            </a:xfrm>
            <a:prstGeom prst="rightArrow">
              <a:avLst/>
            </a:prstGeom>
            <a:solidFill>
              <a:srgbClr val="FF0000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29" name="Picture 28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547" y="4794120"/>
            <a:ext cx="2429061" cy="1618636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5666" y="4794120"/>
            <a:ext cx="2428754" cy="1618636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673" y="4794571"/>
            <a:ext cx="2428100" cy="161773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8BA4D5A-4F07-4063-92C1-1D121EEEE398}"/>
              </a:ext>
            </a:extLst>
          </p:cNvPr>
          <p:cNvSpPr txBox="1"/>
          <p:nvPr/>
        </p:nvSpPr>
        <p:spPr>
          <a:xfrm>
            <a:off x="537503" y="3895233"/>
            <a:ext cx="1084078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      &gt; ก่อนใช้งานควรสตาร์ทเครื่องยนต์และเดินเบาไว้ประมาณ 15-20 นาที เพื่อให้น้ำมันเครื่องหล่อลื่นทั่วทั้งเครื่องยนต์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   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 &gt; สังเกตจุดเช็</a:t>
            </a:r>
            <a:r>
              <a:rPr lang="th-TH" sz="1800" dirty="0">
                <a:solidFill>
                  <a:srgbClr val="FF0000"/>
                </a:solidFill>
                <a:latin typeface="Kanit" pitchFamily="2" charset="-34"/>
                <a:cs typeface="Kanit" pitchFamily="2" charset="-34"/>
              </a:rPr>
              <a:t>ก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แรงดันน้ำมันเครื่อง ถ้าสีน้ำเงินเลื่อนมาครอบสีแดง แสดงว่าระบบหล่อลื่นเครื่องยนต์ทำงานปกติ</a:t>
            </a:r>
          </a:p>
        </p:txBody>
      </p:sp>
    </p:spTree>
    <p:extLst>
      <p:ext uri="{BB962C8B-B14F-4D97-AF65-F5344CB8AC3E}">
        <p14:creationId xmlns:p14="http://schemas.microsoft.com/office/powerpoint/2010/main" val="1472448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4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เช็กระบบน้ำระบายความร้อน (หม้อน้ำ)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A4D5A-4F07-4063-92C1-1D121EEEE398}"/>
              </a:ext>
            </a:extLst>
          </p:cNvPr>
          <p:cNvSpPr txBox="1"/>
          <p:nvPr/>
        </p:nvSpPr>
        <p:spPr>
          <a:xfrm>
            <a:off x="330640" y="1935584"/>
            <a:ext cx="10840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ใส่ผงกันสนิม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เติมน้ำสะอาดลงไปให้เต็ม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(ห้ามใช้น้ำบาดาลหรือน้ำคลอง เพราะจะทำให้หม้อน้ำมีตะกอน และทำให้หม้อน้ำอุดตันได้)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AE308F-8B26-463C-A2DC-80B28A47FB12}"/>
              </a:ext>
            </a:extLst>
          </p:cNvPr>
          <p:cNvSpPr txBox="1"/>
          <p:nvPr/>
        </p:nvSpPr>
        <p:spPr>
          <a:xfrm>
            <a:off x="330640" y="1436856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ขั้นตอนการตรวจเช็ก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3013322" y="5109843"/>
            <a:ext cx="6178423" cy="366316"/>
            <a:chOff x="3370165" y="4800598"/>
            <a:chExt cx="7148190" cy="423813"/>
          </a:xfrm>
        </p:grpSpPr>
        <p:sp>
          <p:nvSpPr>
            <p:cNvPr id="14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60" y="4463108"/>
            <a:ext cx="2429061" cy="1617662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679" y="4463187"/>
            <a:ext cx="2428754" cy="1617503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686" y="4463072"/>
            <a:ext cx="2428100" cy="1617732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173" y="4462761"/>
            <a:ext cx="2429036" cy="1618356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62"/>
          <a:stretch/>
        </p:blipFill>
        <p:spPr>
          <a:xfrm>
            <a:off x="526076" y="4462761"/>
            <a:ext cx="557850" cy="647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3780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63D1255A-65D3-4A6B-B722-EAFB6364EB0D}"/>
              </a:ext>
            </a:extLst>
          </p:cNvPr>
          <p:cNvSpPr txBox="1"/>
          <p:nvPr/>
        </p:nvSpPr>
        <p:spPr>
          <a:xfrm>
            <a:off x="330640" y="330364"/>
            <a:ext cx="86609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rgbClr val="000000"/>
                </a:solidFill>
              </a:rPr>
              <a:t>5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. </a:t>
            </a: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เช็กระบบสายพานพัดลมระบายความร้อน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BA4D5A-4F07-4063-92C1-1D121EEEE398}"/>
              </a:ext>
            </a:extLst>
          </p:cNvPr>
          <p:cNvSpPr txBox="1"/>
          <p:nvPr/>
        </p:nvSpPr>
        <p:spPr>
          <a:xfrm>
            <a:off x="330640" y="1932461"/>
            <a:ext cx="1084078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ใช้นิ้วกดตรงกลางของสายพาน เพื่อดูความตึงหย่อนของสายพาน</a:t>
            </a:r>
          </a:p>
          <a:p>
            <a:pPr>
              <a:defRPr/>
            </a:pP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ค่าความตึงหย่อนที่เหมาะสมอยู่ที่ 10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mm.</a:t>
            </a:r>
            <a:r>
              <a:rPr lang="th-TH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-15 </a:t>
            </a:r>
            <a:r>
              <a:rPr lang="en-US" sz="18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mm.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• </a:t>
            </a:r>
            <a:r>
              <a:rPr kumimoji="0" lang="th-TH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ถ้าสายพานตึงหรือหย่อนเกินไป ให้ปรับตามค่าที่กำหนด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3AE308F-8B26-463C-A2DC-80B28A47FB12}"/>
              </a:ext>
            </a:extLst>
          </p:cNvPr>
          <p:cNvSpPr txBox="1"/>
          <p:nvPr/>
        </p:nvSpPr>
        <p:spPr>
          <a:xfrm>
            <a:off x="330640" y="1433733"/>
            <a:ext cx="352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h-TH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ขั้นตอนการตรวจเช็ก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:</a:t>
            </a:r>
            <a:endParaRPr kumimoji="0" lang="th-TH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A18311E9-84EE-4D99-B1D7-FDD0087C8C1F}"/>
              </a:ext>
            </a:extLst>
          </p:cNvPr>
          <p:cNvGrpSpPr/>
          <p:nvPr/>
        </p:nvGrpSpPr>
        <p:grpSpPr>
          <a:xfrm>
            <a:off x="3013322" y="5109843"/>
            <a:ext cx="6178423" cy="366316"/>
            <a:chOff x="3370165" y="4800598"/>
            <a:chExt cx="7148190" cy="423813"/>
          </a:xfrm>
        </p:grpSpPr>
        <p:sp>
          <p:nvSpPr>
            <p:cNvPr id="14" name="Arrow: Right 18">
              <a:extLst>
                <a:ext uri="{FF2B5EF4-FFF2-40B4-BE49-F238E27FC236}">
                  <a16:creationId xmlns:a16="http://schemas.microsoft.com/office/drawing/2014/main" id="{8230012C-7F34-4175-B150-CB95165C944E}"/>
                </a:ext>
              </a:extLst>
            </p:cNvPr>
            <p:cNvSpPr/>
            <p:nvPr/>
          </p:nvSpPr>
          <p:spPr>
            <a:xfrm>
              <a:off x="3370165" y="4800600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5" name="Arrow: Right 25">
              <a:extLst>
                <a:ext uri="{FF2B5EF4-FFF2-40B4-BE49-F238E27FC236}">
                  <a16:creationId xmlns:a16="http://schemas.microsoft.com/office/drawing/2014/main" id="{71BEBEA3-3068-4FE4-8567-0AA19D165554}"/>
                </a:ext>
              </a:extLst>
            </p:cNvPr>
            <p:cNvSpPr/>
            <p:nvPr/>
          </p:nvSpPr>
          <p:spPr>
            <a:xfrm>
              <a:off x="6721533" y="4800599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  <p:sp>
          <p:nvSpPr>
            <p:cNvPr id="17" name="Arrow: Right 27">
              <a:extLst>
                <a:ext uri="{FF2B5EF4-FFF2-40B4-BE49-F238E27FC236}">
                  <a16:creationId xmlns:a16="http://schemas.microsoft.com/office/drawing/2014/main" id="{051E79A0-ABEC-46C2-8718-34AEA1764B38}"/>
                </a:ext>
              </a:extLst>
            </p:cNvPr>
            <p:cNvSpPr/>
            <p:nvPr/>
          </p:nvSpPr>
          <p:spPr>
            <a:xfrm>
              <a:off x="10057785" y="4800598"/>
              <a:ext cx="460570" cy="423811"/>
            </a:xfrm>
            <a:prstGeom prst="rightArrow">
              <a:avLst/>
            </a:prstGeom>
            <a:solidFill>
              <a:srgbClr val="FFC0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h-TH"/>
            </a:p>
          </p:txBody>
        </p:sp>
      </p:grpSp>
      <p:pic>
        <p:nvPicPr>
          <p:cNvPr id="25" name="Picture 24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60" y="4463252"/>
            <a:ext cx="2429061" cy="161737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679" y="4462855"/>
            <a:ext cx="2428754" cy="1618168"/>
          </a:xfrm>
          <a:prstGeom prst="rect">
            <a:avLst/>
          </a:prstGeom>
        </p:spPr>
      </p:pic>
      <p:pic>
        <p:nvPicPr>
          <p:cNvPr id="29" name="Picture 28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811" y="4463072"/>
            <a:ext cx="2425849" cy="1617733"/>
          </a:xfrm>
          <a:prstGeom prst="rect">
            <a:avLst/>
          </a:prstGeom>
        </p:spPr>
      </p:pic>
      <p:pic>
        <p:nvPicPr>
          <p:cNvPr id="30" name="Picture 29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25265" y="4462572"/>
            <a:ext cx="2428851" cy="161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8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AAE93A-A663-464F-B716-9C4EAF50FF3A}"/>
              </a:ext>
            </a:extLst>
          </p:cNvPr>
          <p:cNvSpPr txBox="1"/>
          <p:nvPr/>
        </p:nvSpPr>
        <p:spPr>
          <a:xfrm>
            <a:off x="406782" y="1933741"/>
            <a:ext cx="491942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kumimoji="0" lang="th-TH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ขั้นตอนการสตาร์ท</a:t>
            </a:r>
          </a:p>
          <a:p>
            <a:pPr>
              <a:defRPr/>
            </a:pPr>
            <a:r>
              <a:rPr kumimoji="0" lang="th-TH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เครื่องยนต์ดีเซลคูโบต้า</a:t>
            </a:r>
          </a:p>
          <a:p>
            <a:pPr>
              <a:defRPr/>
            </a:pPr>
            <a:r>
              <a:rPr lang="th-TH" sz="4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อย่างถูกวิธี</a:t>
            </a:r>
            <a:endParaRPr kumimoji="0" lang="th-TH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4" name="Picture 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654EBA-AC43-4FF3-A371-F538B8F0EE66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6205" y="2588546"/>
            <a:ext cx="3005797" cy="515256"/>
          </a:xfrm>
          <a:prstGeom prst="rect">
            <a:avLst/>
          </a:prstGeom>
        </p:spPr>
      </p:pic>
      <p:pic>
        <p:nvPicPr>
          <p:cNvPr id="6" name="Picture 5" descr="A close-up of a machine&#10;&#10;Description automatically generated with low confidence">
            <a:extLst>
              <a:ext uri="{FF2B5EF4-FFF2-40B4-BE49-F238E27FC236}">
                <a16:creationId xmlns:a16="http://schemas.microsoft.com/office/drawing/2014/main" id="{9E0B095C-03C7-4E12-A5AA-6E19F047A04C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6411" y="3135127"/>
            <a:ext cx="4545386" cy="3788579"/>
          </a:xfrm>
          <a:prstGeom prst="rect">
            <a:avLst/>
          </a:prstGeom>
        </p:spPr>
      </p:pic>
      <p:pic>
        <p:nvPicPr>
          <p:cNvPr id="10" name="Picture 9" descr="A picture containing orange, watch&#10;&#10;Description automatically generated">
            <a:extLst>
              <a:ext uri="{FF2B5EF4-FFF2-40B4-BE49-F238E27FC236}">
                <a16:creationId xmlns:a16="http://schemas.microsoft.com/office/drawing/2014/main" id="{558D9BC8-C8EB-40D4-9671-6AB5B87FD89C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3635" y="2846174"/>
            <a:ext cx="3691589" cy="3076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66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E1B48652-35C0-4F92-BBC5-FBE9999210DB}"/>
              </a:ext>
            </a:extLst>
          </p:cNvPr>
          <p:cNvSpPr txBox="1"/>
          <p:nvPr/>
        </p:nvSpPr>
        <p:spPr>
          <a:xfrm>
            <a:off x="330639" y="330364"/>
            <a:ext cx="115275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h-TH"/>
            </a:defPPr>
            <a:lvl1pPr algn="ctr">
              <a:defRPr sz="3200">
                <a:latin typeface="Kanit" pitchFamily="2" charset="-34"/>
                <a:cs typeface="Kanit" pitchFamily="2" charset="-34"/>
              </a:defRPr>
            </a:lvl1pPr>
          </a:lstStyle>
          <a:p>
            <a:pPr algn="l">
              <a:defRPr/>
            </a:pPr>
            <a:r>
              <a:rPr kumimoji="0" lang="th-TH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Kanit" pitchFamily="2" charset="-34"/>
                <a:ea typeface="+mn-ea"/>
                <a:cs typeface="Kanit" pitchFamily="2" charset="-34"/>
              </a:rPr>
              <a:t>ขั้นตอนการสตาร์ทเครื่องยนต์ดีเซลคูโบต้า</a:t>
            </a:r>
            <a:r>
              <a:rPr lang="th-TH" sz="32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อย่างถูกวิธี</a:t>
            </a:r>
            <a:endParaRPr kumimoji="0" lang="th-TH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Kanit" pitchFamily="2" charset="-34"/>
              <a:ea typeface="+mn-ea"/>
              <a:cs typeface="Kanit" pitchFamily="2" charset="-34"/>
            </a:endParaRPr>
          </a:p>
        </p:txBody>
      </p:sp>
      <p:pic>
        <p:nvPicPr>
          <p:cNvPr id="14" name="Picture 13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BDAEB2BA-2FFF-43FB-BC23-DA07E9D067C2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8549" y="428637"/>
            <a:ext cx="2264766" cy="388228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8CA75A7-610A-47EA-8A3D-69F8A3354C29}"/>
              </a:ext>
            </a:extLst>
          </p:cNvPr>
          <p:cNvSpPr txBox="1"/>
          <p:nvPr/>
        </p:nvSpPr>
        <p:spPr>
          <a:xfrm>
            <a:off x="376583" y="1673969"/>
            <a:ext cx="669137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ปรับคันเร่งไปในตำแหน่งสตาร์ท</a:t>
            </a:r>
          </a:p>
          <a:p>
            <a:pPr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สวมมือหมุนเข้ากับเพลาสตาร์ทของเครื่องยนต์</a:t>
            </a:r>
          </a:p>
          <a:p>
            <a:pPr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หมุนมือหมุนไปในทิศทางตามเข็มนาฬิกาให้ตึงมือ</a:t>
            </a:r>
          </a:p>
          <a:p>
            <a:pPr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หากด้ามมือหมุนอยู่ด้านบน ให้ถอดมือหมุนออก</a:t>
            </a:r>
          </a:p>
          <a:p>
            <a:pPr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สวมมือหมุนเข้ากับเพลาสตาร์ท โดยให้ด้ามมือหมุนอยู่ด้านล่าง </a:t>
            </a:r>
          </a:p>
          <a:p>
            <a:pPr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ยกคันยกวาล์ว และหมุนเครื่องยนต์ 3-5 รอบ</a:t>
            </a:r>
          </a:p>
          <a:p>
            <a:pPr>
              <a:defRPr/>
            </a:pP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• ปล่อยคันยกวาล์วลงและออกแรงหมุนเครื่องยนต์ต่อ </a:t>
            </a:r>
            <a:b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</a:br>
            <a:r>
              <a:rPr lang="th-TH" sz="20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  เครื่องยนต์จะสตาร์ทติด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E8F4299-9A2B-4938-A119-6FCD16B845CD}"/>
              </a:ext>
            </a:extLst>
          </p:cNvPr>
          <p:cNvSpPr txBox="1"/>
          <p:nvPr/>
        </p:nvSpPr>
        <p:spPr>
          <a:xfrm>
            <a:off x="506404" y="5844588"/>
            <a:ext cx="1117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6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อย่าปล่อยหมุนทันที่ที่เครื่องติด เพราะมือหมุนจะเหวี่ยงออกมาทำให้เกิดอันตรายได้ ให้จับมือหมุนไว้แน่นๆ มือหมุนจะฟรีและหลุดออกมาเอง</a:t>
            </a:r>
          </a:p>
          <a:p>
            <a:r>
              <a:rPr lang="th-TH" sz="16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อย่าปล่อยคันยกวาล์วและหยุดหมุน เพราะจะทำให้เครื่องตีกลับ (ควันจะออกที่หม้อกรองอากาศ) เครื่องยนต์จะหมุนกลับด้าน</a:t>
            </a:r>
          </a:p>
          <a:p>
            <a:r>
              <a:rPr lang="th-TH" sz="16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* ถ้าเครื่องยนต์ตีกลับ ให้ถอดชุดใส้กรองออกมาตรวจสอบ ถ้ามีเขม่าควันให้ทำความสะอาดกรองอากาศ หรือ ถ้าชำรุดให้เปลี่ยนไส้กรองใหม่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06E3B5-1A2C-479B-816B-045A43442CE7}"/>
              </a:ext>
            </a:extLst>
          </p:cNvPr>
          <p:cNvSpPr/>
          <p:nvPr/>
        </p:nvSpPr>
        <p:spPr>
          <a:xfrm>
            <a:off x="330639" y="5733141"/>
            <a:ext cx="11527531" cy="106464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346DCC-A264-4B46-BFDC-19620CD5A88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6404" y="5154162"/>
            <a:ext cx="709892" cy="704939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76971F62-D48A-49C6-B4FD-568FD16DD165}"/>
              </a:ext>
            </a:extLst>
          </p:cNvPr>
          <p:cNvSpPr txBox="1"/>
          <p:nvPr/>
        </p:nvSpPr>
        <p:spPr>
          <a:xfrm>
            <a:off x="1216296" y="5237511"/>
            <a:ext cx="14688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0000"/>
                </a:solidFill>
                <a:latin typeface="Kanit" pitchFamily="2" charset="-34"/>
                <a:cs typeface="Kanit" pitchFamily="2" charset="-34"/>
              </a:rPr>
              <a:t>Caution</a:t>
            </a:r>
            <a:endParaRPr lang="th-TH" sz="2400" dirty="0">
              <a:solidFill>
                <a:srgbClr val="000000"/>
              </a:solidFill>
              <a:latin typeface="Kanit" pitchFamily="2" charset="-34"/>
              <a:cs typeface="Kanit" pitchFamily="2" charset="-34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678" y="915138"/>
            <a:ext cx="2254439" cy="1502414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483" y="915138"/>
            <a:ext cx="2253621" cy="1502414"/>
          </a:xfrm>
          <a:prstGeom prst="rect">
            <a:avLst/>
          </a:prstGeom>
        </p:spPr>
      </p:pic>
      <p:sp>
        <p:nvSpPr>
          <p:cNvPr id="34" name="Arrow: Right 33">
            <a:extLst>
              <a:ext uri="{FF2B5EF4-FFF2-40B4-BE49-F238E27FC236}">
                <a16:creationId xmlns:a16="http://schemas.microsoft.com/office/drawing/2014/main" id="{3512754C-6C17-4A12-9215-0D8997FD4F38}"/>
              </a:ext>
            </a:extLst>
          </p:cNvPr>
          <p:cNvSpPr/>
          <p:nvPr/>
        </p:nvSpPr>
        <p:spPr>
          <a:xfrm>
            <a:off x="9294708" y="1483188"/>
            <a:ext cx="362053" cy="36631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8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678" y="2564936"/>
            <a:ext cx="2253621" cy="1502414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29074" y="2565205"/>
            <a:ext cx="2254439" cy="1501875"/>
          </a:xfrm>
          <a:prstGeom prst="rect">
            <a:avLst/>
          </a:prstGeom>
        </p:spPr>
      </p:pic>
      <p:sp>
        <p:nvSpPr>
          <p:cNvPr id="35" name="Arrow: Right 34">
            <a:extLst>
              <a:ext uri="{FF2B5EF4-FFF2-40B4-BE49-F238E27FC236}">
                <a16:creationId xmlns:a16="http://schemas.microsoft.com/office/drawing/2014/main" id="{17580EED-0BB2-417C-9FFF-73A484561049}"/>
              </a:ext>
            </a:extLst>
          </p:cNvPr>
          <p:cNvSpPr/>
          <p:nvPr/>
        </p:nvSpPr>
        <p:spPr>
          <a:xfrm>
            <a:off x="6649561" y="3138608"/>
            <a:ext cx="362053" cy="36631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E3B54832-1B84-4033-B284-5C38F4D095FC}"/>
              </a:ext>
            </a:extLst>
          </p:cNvPr>
          <p:cNvSpPr/>
          <p:nvPr/>
        </p:nvSpPr>
        <p:spPr>
          <a:xfrm>
            <a:off x="9294708" y="3138607"/>
            <a:ext cx="362053" cy="36631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Cordia New" panose="020B0304020202020204" pitchFamily="34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10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678" y="4175004"/>
            <a:ext cx="2253621" cy="1502414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0874" y="4175004"/>
            <a:ext cx="2250838" cy="1502414"/>
          </a:xfrm>
          <a:prstGeom prst="rect">
            <a:avLst/>
          </a:prstGeom>
        </p:spPr>
      </p:pic>
      <p:sp>
        <p:nvSpPr>
          <p:cNvPr id="23" name="Arrow: Right 34">
            <a:extLst>
              <a:ext uri="{FF2B5EF4-FFF2-40B4-BE49-F238E27FC236}">
                <a16:creationId xmlns:a16="http://schemas.microsoft.com/office/drawing/2014/main" id="{17580EED-0BB2-417C-9FFF-73A484561049}"/>
              </a:ext>
            </a:extLst>
          </p:cNvPr>
          <p:cNvSpPr/>
          <p:nvPr/>
        </p:nvSpPr>
        <p:spPr>
          <a:xfrm>
            <a:off x="6649561" y="4748676"/>
            <a:ext cx="362053" cy="36631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24" name="Arrow: Right 35">
            <a:extLst>
              <a:ext uri="{FF2B5EF4-FFF2-40B4-BE49-F238E27FC236}">
                <a16:creationId xmlns:a16="http://schemas.microsoft.com/office/drawing/2014/main" id="{E3B54832-1B84-4033-B284-5C38F4D095FC}"/>
              </a:ext>
            </a:extLst>
          </p:cNvPr>
          <p:cNvSpPr/>
          <p:nvPr/>
        </p:nvSpPr>
        <p:spPr>
          <a:xfrm>
            <a:off x="9294708" y="4748675"/>
            <a:ext cx="362053" cy="366314"/>
          </a:xfrm>
          <a:prstGeom prst="right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th-TH" sz="2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Cordia New" panose="020B0304020202020204" pitchFamily="34" charset="-34"/>
            </a:endParaRPr>
          </a:p>
        </p:txBody>
      </p:sp>
      <p:sp>
        <p:nvSpPr>
          <p:cNvPr id="3" name="Curved Up Arrow 2"/>
          <p:cNvSpPr/>
          <p:nvPr/>
        </p:nvSpPr>
        <p:spPr>
          <a:xfrm flipH="1">
            <a:off x="10264480" y="3457743"/>
            <a:ext cx="613954" cy="295335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6" name="Curved Up Arrow 25"/>
          <p:cNvSpPr/>
          <p:nvPr/>
        </p:nvSpPr>
        <p:spPr>
          <a:xfrm rot="10800000" flipH="1">
            <a:off x="10309532" y="3121706"/>
            <a:ext cx="613954" cy="295335"/>
          </a:xfrm>
          <a:prstGeom prst="curvedUp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014538"/>
      </p:ext>
    </p:extLst>
  </p:cSld>
  <p:clrMapOvr>
    <a:masterClrMapping/>
  </p:clrMapOvr>
</p:sld>
</file>

<file path=ppt/theme/theme1.xml><?xml version="1.0" encoding="utf-8"?>
<a:theme xmlns:a="http://schemas.openxmlformats.org/drawingml/2006/main" name="Juliet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807</TotalTime>
  <Words>687</Words>
  <Application>Microsoft Office PowerPoint</Application>
  <PresentationFormat>Widescreen</PresentationFormat>
  <Paragraphs>58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Montserrat Light</vt:lpstr>
      <vt:lpstr>Montserrat ExtraBold</vt:lpstr>
      <vt:lpstr>Kanit</vt:lpstr>
      <vt:lpstr>Calibri</vt:lpstr>
      <vt:lpstr>Arial</vt:lpstr>
      <vt:lpstr>Juliet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Thanawat Jedsadapattanakiat</dc:creator>
  <cp:lastModifiedBy>Nuanphan Ngamkitwanit (Ngamkitwanit Nuanphan)</cp:lastModifiedBy>
  <cp:revision>48</cp:revision>
  <dcterms:created xsi:type="dcterms:W3CDTF">2022-02-15T03:21:56Z</dcterms:created>
  <dcterms:modified xsi:type="dcterms:W3CDTF">2026-08-13T06:48:20Z</dcterms:modified>
</cp:coreProperties>
</file>